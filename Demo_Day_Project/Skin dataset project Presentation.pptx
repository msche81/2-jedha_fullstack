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p:regular r:id="rId25"/>
      <p:bold r:id="rId26"/>
      <p:italic r:id="rId27"/>
      <p:boldItalic r:id="rId28"/>
    </p:embeddedFont>
    <p:embeddedFont>
      <p:font typeface="Old Standard TT"/>
      <p:regular r:id="rId29"/>
      <p:bold r:id="rId30"/>
      <p: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D4631D-64B9-4C4D-B07C-D77B28E18D1B}">
  <a:tblStyle styleId="{EFD4631D-64B9-4C4D-B07C-D77B28E18D1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ldStandardT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ldStandardTT-italic.fntdata"/><Relationship Id="rId30" Type="http://schemas.openxmlformats.org/officeDocument/2006/relationships/font" Target="fonts/OldStandardTT-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Choix du sujet: Medhi a sourcé et je souhaitais me rapprocher d un topic health, la detection de la typologie de la peau est un dataset qui peut s’apparenter à une recherche médicale mais pour des raisons de timing on est parti sur une classification relativement simple de trois typologies de peau sur 3000 images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c6f90357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c6f9035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2bb7cf61a9_0_4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2bb7cf61a9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fr"/>
              <a:t>L’AUC-ROC est une mesure globale de la performance du modèle qui prend en compte toutes les classes et tous les seuils possibles de classification. Elle est très utile car elle ne dépend pas du seuil spécifique de classification, ce qui la rend robuste face aux déséquilibres de classes. Elle montre la capacité du modèle à distinguer les classes.</a:t>
            </a:r>
            <a:endParaRPr/>
          </a:p>
          <a:p>
            <a:pPr indent="0" lvl="0" marL="0" rtl="0" algn="l">
              <a:lnSpc>
                <a:spcPct val="115000"/>
              </a:lnSpc>
              <a:spcBef>
                <a:spcPts val="1200"/>
              </a:spcBef>
              <a:spcAft>
                <a:spcPts val="0"/>
              </a:spcAft>
              <a:buNone/>
            </a:pPr>
            <a:r>
              <a:rPr lang="fr">
                <a:solidFill>
                  <a:schemeClr val="dk1"/>
                </a:solidFill>
              </a:rPr>
              <a:t>Le </a:t>
            </a:r>
            <a:r>
              <a:rPr b="1" lang="fr">
                <a:solidFill>
                  <a:schemeClr val="dk1"/>
                </a:solidFill>
              </a:rPr>
              <a:t>F1-score</a:t>
            </a:r>
            <a:r>
              <a:rPr lang="fr">
                <a:solidFill>
                  <a:schemeClr val="dk1"/>
                </a:solidFill>
              </a:rPr>
              <a:t> combine la précision et le rappel, ce qui le rend très utile dans les cas de classes déséquilibrées. Contrairement à l’accuracy, qui peut être trompeuse dans les cas de classes déséquilibrées (par exemple, un modèle qui prédit toujours la classe majoritaire obtiendrait une bonne précision sans rien apprendre réellement), le F1-score équilibre les faux positifs et faux négatifs.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bb7cf61a9_0_47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2bb7cf61a9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2bb7cf61a9_0_50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2bb7cf61a9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2bb7cf61a9_0_8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2bb7cf61a9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2bb7cf61a9_0_7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2bb7cf61a9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bb7cf61a9_0_7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2bb7cf61a9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2bb7cf61a9_0_8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2bb7cf61a9_0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2bb7cf61a9_0_7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2bb7cf61a9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fr">
                <a:solidFill>
                  <a:schemeClr val="dk1"/>
                </a:solidFill>
              </a:rPr>
              <a:t>Custom CNN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a:t>
            </a:r>
            <a:r>
              <a:rPr b="1" lang="fr">
                <a:solidFill>
                  <a:schemeClr val="dk1"/>
                </a:solidFill>
              </a:rPr>
              <a:t>Adapté sur mesure au projet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	Conçu spécifiquement pour la classification des types de peau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	Permet un contrôle total sur l’architecture et les hyperparamètres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	Optimisé en fonction des caractéristiques du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fr">
                <a:solidFill>
                  <a:schemeClr val="dk1"/>
                </a:solidFill>
              </a:rPr>
              <a:t>MobileNetV2</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a:t>
            </a:r>
            <a:r>
              <a:rPr b="1" lang="fr">
                <a:solidFill>
                  <a:schemeClr val="dk1"/>
                </a:solidFill>
              </a:rPr>
              <a:t>Léger et performant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	Optimisé pour une utilisation sur mobile et appareils embarqués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	Exécute des inférences plus rapides avec un coût computationnel réduit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	Maintient une bonne précision grâce aux convolutions séparables en profondeur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fr">
                <a:solidFill>
                  <a:schemeClr val="dk1"/>
                </a:solidFill>
              </a:rPr>
              <a:t>EfficientNet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a:t>
            </a:r>
            <a:r>
              <a:rPr b="1" lang="fr">
                <a:solidFill>
                  <a:schemeClr val="dk1"/>
                </a:solidFill>
              </a:rPr>
              <a:t>Précision élevée et évolutivité</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	Utilise un </a:t>
            </a:r>
            <a:r>
              <a:rPr b="1" lang="fr">
                <a:solidFill>
                  <a:schemeClr val="dk1"/>
                </a:solidFill>
              </a:rPr>
              <a:t>scaling composé</a:t>
            </a:r>
            <a:r>
              <a:rPr lang="fr">
                <a:solidFill>
                  <a:schemeClr val="dk1"/>
                </a:solidFill>
              </a:rPr>
              <a:t> pour maximiser les performances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fr">
                <a:solidFill>
                  <a:schemeClr val="dk1"/>
                </a:solidFill>
              </a:rPr>
              <a:t>	•	Atteint un </a:t>
            </a:r>
            <a:r>
              <a:rPr b="1" lang="fr">
                <a:solidFill>
                  <a:schemeClr val="dk1"/>
                </a:solidFill>
              </a:rPr>
              <a:t>excellent compromis entre précision et nombre de paramètres</a:t>
            </a:r>
            <a:endParaRPr b="1">
              <a:solidFill>
                <a:schemeClr val="dk1"/>
              </a:solidFill>
            </a:endParaRPr>
          </a:p>
          <a:p>
            <a:pPr indent="0" lvl="0" marL="0" rtl="0" algn="l">
              <a:lnSpc>
                <a:spcPct val="115000"/>
              </a:lnSpc>
              <a:spcBef>
                <a:spcPts val="1200"/>
              </a:spcBef>
              <a:spcAft>
                <a:spcPts val="1200"/>
              </a:spcAft>
              <a:buNone/>
            </a:pPr>
            <a:r>
              <a:rPr lang="fr">
                <a:solidFill>
                  <a:schemeClr val="dk1"/>
                </a:solidFill>
              </a:rPr>
              <a:t>	•	Offre une meilleure efficacité en termes de calcul par rapport aux modèles classiques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2bb7cf61a9_0_79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2bb7cf61a9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2bb7cf61a9_0_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2bb7cf61a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2bb7cf61a9_0_84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2bb7cf61a9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bb7cf61a9_0_8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2bb7cf61a9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bb7cf61a9_0_8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2bb7cf61a9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c6f90357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c6f9035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c6f90357f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c6f90357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6.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0" Type="http://schemas.openxmlformats.org/officeDocument/2006/relationships/image" Target="../media/image17.png"/><Relationship Id="rId11" Type="http://schemas.openxmlformats.org/officeDocument/2006/relationships/image" Target="../media/image6.png"/><Relationship Id="rId10" Type="http://schemas.openxmlformats.org/officeDocument/2006/relationships/image" Target="../media/image9.png"/><Relationship Id="rId13" Type="http://schemas.openxmlformats.org/officeDocument/2006/relationships/image" Target="../media/image2.png"/><Relationship Id="rId12" Type="http://schemas.openxmlformats.org/officeDocument/2006/relationships/image" Target="../media/image16.png"/><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1.png"/><Relationship Id="rId9" Type="http://schemas.openxmlformats.org/officeDocument/2006/relationships/image" Target="../media/image7.png"/><Relationship Id="rId15" Type="http://schemas.openxmlformats.org/officeDocument/2006/relationships/image" Target="../media/image19.png"/><Relationship Id="rId14" Type="http://schemas.openxmlformats.org/officeDocument/2006/relationships/image" Target="../media/image13.png"/><Relationship Id="rId17" Type="http://schemas.openxmlformats.org/officeDocument/2006/relationships/image" Target="../media/image11.png"/><Relationship Id="rId16" Type="http://schemas.openxmlformats.org/officeDocument/2006/relationships/image" Target="../media/image3.png"/><Relationship Id="rId5" Type="http://schemas.openxmlformats.org/officeDocument/2006/relationships/image" Target="../media/image5.png"/><Relationship Id="rId19" Type="http://schemas.openxmlformats.org/officeDocument/2006/relationships/image" Target="../media/image10.png"/><Relationship Id="rId6" Type="http://schemas.openxmlformats.org/officeDocument/2006/relationships/image" Target="../media/image4.png"/><Relationship Id="rId18" Type="http://schemas.openxmlformats.org/officeDocument/2006/relationships/image" Target="../media/image12.png"/><Relationship Id="rId7" Type="http://schemas.openxmlformats.org/officeDocument/2006/relationships/image" Target="../media/image22.png"/><Relationship Id="rId8"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hyperlink" Target="https://www.kaggle.com/datasets/shakyadissanayake/oily-dry-and-normal-skin-types-dataset/data" TargetMode="External"/><Relationship Id="rId4" Type="http://schemas.openxmlformats.org/officeDocument/2006/relationships/image" Target="../media/image20.png"/><Relationship Id="rId5"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msintech-skin-dataset-project-final.hf.space/" TargetMode="Externa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hyperlink" Target="https://msintech-skin-dataset-project-final-api.hf.space/docs" TargetMode="External"/><Relationship Id="rId7" Type="http://schemas.openxmlformats.org/officeDocument/2006/relationships/image" Target="../media/image24.png"/><Relationship Id="rId8" Type="http://schemas.openxmlformats.org/officeDocument/2006/relationships/hyperlink" Target="https://msintech-skin-dataset-project-final-api.hf.space/redoc"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hyperlink" Target="https://msintech-skin-dataset-project-final-streamlit.hf.space/" TargetMode="External"/><Relationship Id="rId7" Type="http://schemas.openxmlformats.org/officeDocument/2006/relationships/image" Target="../media/image25.png"/><Relationship Id="rId8" Type="http://schemas.openxmlformats.org/officeDocument/2006/relationships/hyperlink" Target="https://www.dropbox.com/scl/fi/a4ftiyuuydhtb2zt42xif/Screen-Recording-2025-02-13-at-00.44.57.mp4?rlkey=1vaj0bkic14a8u1sgcw0eg3yj&amp;dl=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922150"/>
            <a:ext cx="8118600" cy="1494000"/>
          </a:xfrm>
          <a:prstGeom prst="rect">
            <a:avLst/>
          </a:prstGeom>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fr"/>
              <a:t>S</a:t>
            </a:r>
            <a:r>
              <a:rPr lang="fr"/>
              <a:t>kin dataset project: classification &amp; detection purpose</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By Marie-Sophie Chenevier</a:t>
            </a:r>
            <a:endParaRPr/>
          </a:p>
        </p:txBody>
      </p:sp>
      <p:sp>
        <p:nvSpPr>
          <p:cNvPr id="61" name="Google Shape;61;p13"/>
          <p:cNvSpPr txBox="1"/>
          <p:nvPr>
            <p:ph idx="1" type="subTitle"/>
          </p:nvPr>
        </p:nvSpPr>
        <p:spPr>
          <a:xfrm>
            <a:off x="512700" y="4274525"/>
            <a:ext cx="3005400" cy="53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fr" sz="1900"/>
              <a:t>13rd</a:t>
            </a:r>
            <a:r>
              <a:rPr i="1" lang="fr" sz="1900"/>
              <a:t> February, 2025</a:t>
            </a:r>
            <a:endParaRPr i="1" sz="1900"/>
          </a:p>
        </p:txBody>
      </p:sp>
      <p:pic>
        <p:nvPicPr>
          <p:cNvPr id="62" name="Google Shape;62;p13"/>
          <p:cNvPicPr preferRelativeResize="0"/>
          <p:nvPr/>
        </p:nvPicPr>
        <p:blipFill>
          <a:blip r:embed="rId3">
            <a:alphaModFix/>
          </a:blip>
          <a:stretch>
            <a:fillRect/>
          </a:stretch>
        </p:blipFill>
        <p:spPr>
          <a:xfrm>
            <a:off x="512700" y="353775"/>
            <a:ext cx="735450" cy="613750"/>
          </a:xfrm>
          <a:prstGeom prst="rect">
            <a:avLst/>
          </a:prstGeom>
          <a:noFill/>
          <a:ln>
            <a:noFill/>
          </a:ln>
        </p:spPr>
      </p:pic>
      <p:sp>
        <p:nvSpPr>
          <p:cNvPr id="63" name="Google Shape;63;p13"/>
          <p:cNvSpPr txBox="1"/>
          <p:nvPr>
            <p:ph idx="1" type="subTitle"/>
          </p:nvPr>
        </p:nvSpPr>
        <p:spPr>
          <a:xfrm>
            <a:off x="4572000" y="393950"/>
            <a:ext cx="4488000" cy="533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i="1" lang="fr">
                <a:solidFill>
                  <a:schemeClr val="lt1"/>
                </a:solidFill>
              </a:rPr>
              <a:t>Data Sc. &amp; Eng - Fullstack</a:t>
            </a:r>
            <a:endParaRPr i="1">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621850" y="233175"/>
            <a:ext cx="7430400" cy="2183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Industrial applications</a:t>
            </a:r>
            <a:endParaRPr/>
          </a:p>
          <a:p>
            <a:pPr indent="0" lvl="0" marL="0" rtl="0" algn="l">
              <a:spcBef>
                <a:spcPts val="0"/>
              </a:spcBef>
              <a:spcAft>
                <a:spcPts val="0"/>
              </a:spcAft>
              <a:buNone/>
            </a:pPr>
            <a:r>
              <a:t/>
            </a:r>
            <a:endParaRPr/>
          </a:p>
        </p:txBody>
      </p:sp>
      <p:pic>
        <p:nvPicPr>
          <p:cNvPr id="69" name="Google Shape;69;p14"/>
          <p:cNvPicPr preferRelativeResize="0"/>
          <p:nvPr/>
        </p:nvPicPr>
        <p:blipFill>
          <a:blip r:embed="rId3">
            <a:alphaModFix/>
          </a:blip>
          <a:stretch>
            <a:fillRect/>
          </a:stretch>
        </p:blipFill>
        <p:spPr>
          <a:xfrm>
            <a:off x="5500700" y="1396125"/>
            <a:ext cx="1831574" cy="2753850"/>
          </a:xfrm>
          <a:prstGeom prst="rect">
            <a:avLst/>
          </a:prstGeom>
          <a:noFill/>
          <a:ln>
            <a:noFill/>
          </a:ln>
        </p:spPr>
      </p:pic>
      <p:sp>
        <p:nvSpPr>
          <p:cNvPr id="70" name="Google Shape;70;p14"/>
          <p:cNvSpPr txBox="1"/>
          <p:nvPr/>
        </p:nvSpPr>
        <p:spPr>
          <a:xfrm>
            <a:off x="133275" y="1485550"/>
            <a:ext cx="4486200" cy="1293000"/>
          </a:xfrm>
          <a:prstGeom prst="rect">
            <a:avLst/>
          </a:prstGeom>
          <a:noFill/>
          <a:ln>
            <a:noFill/>
          </a:ln>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lang="fr" sz="1200">
                <a:solidFill>
                  <a:schemeClr val="dk1"/>
                </a:solidFill>
                <a:latin typeface="Old Standard TT"/>
                <a:ea typeface="Old Standard TT"/>
                <a:cs typeface="Old Standard TT"/>
                <a:sym typeface="Old Standard TT"/>
              </a:rPr>
              <a:t>Dermatological image analysis: application of IA for :</a:t>
            </a:r>
            <a:endParaRPr sz="1200">
              <a:solidFill>
                <a:schemeClr val="dk1"/>
              </a:solidFill>
              <a:latin typeface="Old Standard TT"/>
              <a:ea typeface="Old Standard TT"/>
              <a:cs typeface="Old Standard TT"/>
              <a:sym typeface="Old Standard TT"/>
            </a:endParaRPr>
          </a:p>
          <a:p>
            <a:pPr indent="-171450" lvl="0" marL="89999" rtl="0" algn="l">
              <a:lnSpc>
                <a:spcPct val="100000"/>
              </a:lnSpc>
              <a:spcBef>
                <a:spcPts val="0"/>
              </a:spcBef>
              <a:spcAft>
                <a:spcPts val="0"/>
              </a:spcAft>
              <a:buClr>
                <a:schemeClr val="dk1"/>
              </a:buClr>
              <a:buSzPts val="1200"/>
              <a:buFont typeface="Old Standard TT"/>
              <a:buChar char="-"/>
            </a:pPr>
            <a:r>
              <a:rPr lang="fr" sz="1200">
                <a:solidFill>
                  <a:schemeClr val="dk1"/>
                </a:solidFill>
                <a:latin typeface="Old Standard TT"/>
                <a:ea typeface="Old Standard TT"/>
                <a:cs typeface="Old Standard TT"/>
                <a:sym typeface="Old Standard TT"/>
              </a:rPr>
              <a:t>Aesthetic Dermatology</a:t>
            </a:r>
            <a:endParaRPr sz="1200">
              <a:solidFill>
                <a:schemeClr val="dk1"/>
              </a:solidFill>
              <a:latin typeface="Old Standard TT"/>
              <a:ea typeface="Old Standard TT"/>
              <a:cs typeface="Old Standard TT"/>
              <a:sym typeface="Old Standard TT"/>
            </a:endParaRPr>
          </a:p>
          <a:p>
            <a:pPr indent="-171450" lvl="0" marL="89999" rtl="0" algn="l">
              <a:lnSpc>
                <a:spcPct val="100000"/>
              </a:lnSpc>
              <a:spcBef>
                <a:spcPts val="0"/>
              </a:spcBef>
              <a:spcAft>
                <a:spcPts val="0"/>
              </a:spcAft>
              <a:buClr>
                <a:schemeClr val="dk1"/>
              </a:buClr>
              <a:buSzPts val="1200"/>
              <a:buFont typeface="Old Standard TT"/>
              <a:buChar char="-"/>
            </a:pPr>
            <a:r>
              <a:rPr lang="fr" sz="1200">
                <a:solidFill>
                  <a:schemeClr val="dk1"/>
                </a:solidFill>
                <a:latin typeface="Old Standard TT"/>
                <a:ea typeface="Old Standard TT"/>
                <a:cs typeface="Old Standard TT"/>
                <a:sym typeface="Old Standard TT"/>
              </a:rPr>
              <a:t>Skin Surgery</a:t>
            </a:r>
            <a:endParaRPr sz="1200">
              <a:solidFill>
                <a:schemeClr val="dk1"/>
              </a:solidFill>
              <a:latin typeface="Old Standard TT"/>
              <a:ea typeface="Old Standard TT"/>
              <a:cs typeface="Old Standard TT"/>
              <a:sym typeface="Old Standard TT"/>
            </a:endParaRPr>
          </a:p>
          <a:p>
            <a:pPr indent="-171450" lvl="0" marL="89999" rtl="0" algn="l">
              <a:lnSpc>
                <a:spcPct val="100000"/>
              </a:lnSpc>
              <a:spcBef>
                <a:spcPts val="0"/>
              </a:spcBef>
              <a:spcAft>
                <a:spcPts val="0"/>
              </a:spcAft>
              <a:buClr>
                <a:schemeClr val="dk1"/>
              </a:buClr>
              <a:buSzPts val="1200"/>
              <a:buFont typeface="Old Standard TT"/>
              <a:buChar char="-"/>
            </a:pPr>
            <a:r>
              <a:rPr lang="fr" sz="1200">
                <a:solidFill>
                  <a:schemeClr val="dk1"/>
                </a:solidFill>
                <a:latin typeface="Old Standard TT"/>
                <a:ea typeface="Old Standard TT"/>
                <a:cs typeface="Old Standard TT"/>
                <a:sym typeface="Old Standard TT"/>
              </a:rPr>
              <a:t>Inflammatory Dermatosis</a:t>
            </a:r>
            <a:endParaRPr sz="1200">
              <a:solidFill>
                <a:schemeClr val="dk1"/>
              </a:solidFill>
              <a:latin typeface="Old Standard TT"/>
              <a:ea typeface="Old Standard TT"/>
              <a:cs typeface="Old Standard TT"/>
              <a:sym typeface="Old Standard TT"/>
            </a:endParaRPr>
          </a:p>
          <a:p>
            <a:pPr indent="-171450" lvl="0" marL="89999" rtl="0" algn="l">
              <a:lnSpc>
                <a:spcPct val="100000"/>
              </a:lnSpc>
              <a:spcBef>
                <a:spcPts val="0"/>
              </a:spcBef>
              <a:spcAft>
                <a:spcPts val="0"/>
              </a:spcAft>
              <a:buClr>
                <a:schemeClr val="dk1"/>
              </a:buClr>
              <a:buSzPts val="1200"/>
              <a:buFont typeface="Old Standard TT"/>
              <a:buChar char="-"/>
            </a:pPr>
            <a:r>
              <a:rPr lang="fr" sz="1200">
                <a:solidFill>
                  <a:schemeClr val="dk1"/>
                </a:solidFill>
                <a:latin typeface="Old Standard TT"/>
                <a:ea typeface="Old Standard TT"/>
                <a:cs typeface="Old Standard TT"/>
                <a:sym typeface="Old Standard TT"/>
              </a:rPr>
              <a:t>Skin Cancer detection</a:t>
            </a:r>
            <a:endParaRPr sz="1200">
              <a:solidFill>
                <a:schemeClr val="dk1"/>
              </a:solidFill>
              <a:latin typeface="Old Standard TT"/>
              <a:ea typeface="Old Standard TT"/>
              <a:cs typeface="Old Standard TT"/>
              <a:sym typeface="Old Standard TT"/>
            </a:endParaRPr>
          </a:p>
          <a:p>
            <a:pPr indent="-171450" lvl="0" marL="89999" rtl="0" algn="l">
              <a:lnSpc>
                <a:spcPct val="100000"/>
              </a:lnSpc>
              <a:spcBef>
                <a:spcPts val="0"/>
              </a:spcBef>
              <a:spcAft>
                <a:spcPts val="0"/>
              </a:spcAft>
              <a:buClr>
                <a:schemeClr val="dk1"/>
              </a:buClr>
              <a:buSzPts val="1200"/>
              <a:buFont typeface="Old Standard TT"/>
              <a:buChar char="-"/>
            </a:pPr>
            <a:r>
              <a:rPr lang="fr" sz="1200">
                <a:solidFill>
                  <a:schemeClr val="dk1"/>
                </a:solidFill>
                <a:latin typeface="Old Standard TT"/>
                <a:ea typeface="Old Standard TT"/>
                <a:cs typeface="Old Standard TT"/>
                <a:sym typeface="Old Standard TT"/>
              </a:rPr>
              <a:t>…</a:t>
            </a:r>
            <a:endParaRPr sz="1200">
              <a:solidFill>
                <a:schemeClr val="dk1"/>
              </a:solidFill>
              <a:latin typeface="Old Standard TT"/>
              <a:ea typeface="Old Standard TT"/>
              <a:cs typeface="Old Standard TT"/>
              <a:sym typeface="Old Standard TT"/>
            </a:endParaRPr>
          </a:p>
        </p:txBody>
      </p:sp>
      <p:sp>
        <p:nvSpPr>
          <p:cNvPr id="71" name="Google Shape;71;p14"/>
          <p:cNvSpPr txBox="1"/>
          <p:nvPr/>
        </p:nvSpPr>
        <p:spPr>
          <a:xfrm>
            <a:off x="7194000" y="3963425"/>
            <a:ext cx="1831500" cy="794100"/>
          </a:xfrm>
          <a:prstGeom prst="rect">
            <a:avLst/>
          </a:prstGeom>
          <a:noFill/>
          <a:ln>
            <a:noFill/>
          </a:ln>
        </p:spPr>
        <p:txBody>
          <a:bodyPr anchorCtr="0" anchor="ctr" bIns="91425" lIns="91425" spcFirstLastPara="1" rIns="91425" wrap="square" tIns="91425">
            <a:spAutoFit/>
          </a:bodyPr>
          <a:lstStyle/>
          <a:p>
            <a:pPr indent="0" lvl="0" marL="0" rtl="0" algn="ctr">
              <a:lnSpc>
                <a:spcPct val="115000"/>
              </a:lnSpc>
              <a:spcBef>
                <a:spcPts val="1200"/>
              </a:spcBef>
              <a:spcAft>
                <a:spcPts val="1200"/>
              </a:spcAft>
              <a:buNone/>
            </a:pPr>
            <a:r>
              <a:rPr lang="fr" sz="1200">
                <a:solidFill>
                  <a:schemeClr val="dk1"/>
                </a:solidFill>
                <a:latin typeface="Old Standard TT"/>
                <a:ea typeface="Old Standard TT"/>
                <a:cs typeface="Old Standard TT"/>
                <a:sym typeface="Old Standard TT"/>
              </a:rPr>
              <a:t>AI Skin Analysis &amp; Personalized Product Recommendation</a:t>
            </a:r>
            <a:endParaRPr sz="1200">
              <a:latin typeface="Old Standard TT"/>
              <a:ea typeface="Old Standard TT"/>
              <a:cs typeface="Old Standard TT"/>
              <a:sym typeface="Old Standard TT"/>
            </a:endParaRPr>
          </a:p>
        </p:txBody>
      </p:sp>
      <p:cxnSp>
        <p:nvCxnSpPr>
          <p:cNvPr id="72" name="Google Shape;72;p14"/>
          <p:cNvCxnSpPr>
            <a:stCxn id="71" idx="0"/>
            <a:endCxn id="69" idx="3"/>
          </p:cNvCxnSpPr>
          <p:nvPr/>
        </p:nvCxnSpPr>
        <p:spPr>
          <a:xfrm rot="10800000">
            <a:off x="7332150" y="2773025"/>
            <a:ext cx="777600" cy="1190400"/>
          </a:xfrm>
          <a:prstGeom prst="straightConnector1">
            <a:avLst/>
          </a:prstGeom>
          <a:noFill/>
          <a:ln cap="flat" cmpd="sng" w="28575">
            <a:solidFill>
              <a:schemeClr val="dk2"/>
            </a:solidFill>
            <a:prstDash val="solid"/>
            <a:round/>
            <a:headEnd len="med" w="med" type="none"/>
            <a:tailEnd len="med" w="med" type="triangle"/>
          </a:ln>
        </p:spPr>
      </p:cxnSp>
      <p:pic>
        <p:nvPicPr>
          <p:cNvPr id="73" name="Google Shape;73;p14"/>
          <p:cNvPicPr preferRelativeResize="0"/>
          <p:nvPr/>
        </p:nvPicPr>
        <p:blipFill>
          <a:blip r:embed="rId4">
            <a:alphaModFix/>
          </a:blip>
          <a:stretch>
            <a:fillRect/>
          </a:stretch>
        </p:blipFill>
        <p:spPr>
          <a:xfrm>
            <a:off x="416575" y="3010075"/>
            <a:ext cx="4376448" cy="2000176"/>
          </a:xfrm>
          <a:prstGeom prst="rect">
            <a:avLst/>
          </a:prstGeom>
          <a:noFill/>
          <a:ln>
            <a:noFill/>
          </a:ln>
        </p:spPr>
      </p:pic>
      <p:cxnSp>
        <p:nvCxnSpPr>
          <p:cNvPr id="74" name="Google Shape;74;p14"/>
          <p:cNvCxnSpPr>
            <a:stCxn id="70" idx="2"/>
            <a:endCxn id="73" idx="0"/>
          </p:cNvCxnSpPr>
          <p:nvPr/>
        </p:nvCxnSpPr>
        <p:spPr>
          <a:xfrm>
            <a:off x="2376375" y="2778550"/>
            <a:ext cx="228300" cy="2316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630124" y="2793825"/>
            <a:ext cx="39639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2100"/>
              <a:t>Develop a </a:t>
            </a:r>
            <a:r>
              <a:rPr lang="fr" sz="2100"/>
              <a:t>deep</a:t>
            </a:r>
            <a:r>
              <a:rPr lang="fr" sz="2100"/>
              <a:t> learning-based solution for personalized skin type detection</a:t>
            </a:r>
            <a:endParaRPr sz="2100"/>
          </a:p>
        </p:txBody>
      </p:sp>
      <p:sp>
        <p:nvSpPr>
          <p:cNvPr id="80" name="Google Shape;80;p15"/>
          <p:cNvSpPr txBox="1"/>
          <p:nvPr/>
        </p:nvSpPr>
        <p:spPr>
          <a:xfrm>
            <a:off x="158400" y="120900"/>
            <a:ext cx="4045200" cy="1333200"/>
          </a:xfrm>
          <a:prstGeom prst="rect">
            <a:avLst/>
          </a:prstGeom>
          <a:noFill/>
          <a:ln>
            <a:noFill/>
          </a:ln>
        </p:spPr>
        <p:txBody>
          <a:bodyPr anchorCtr="0" anchor="b" bIns="91425" lIns="91425" spcFirstLastPara="1" rIns="91425" wrap="square" tIns="54000">
            <a:normAutofit/>
          </a:bodyPr>
          <a:lstStyle/>
          <a:p>
            <a:pPr indent="0" lvl="0" marL="0" rtl="0" algn="l">
              <a:spcBef>
                <a:spcPts val="0"/>
              </a:spcBef>
              <a:spcAft>
                <a:spcPts val="0"/>
              </a:spcAft>
              <a:buNone/>
            </a:pPr>
            <a:r>
              <a:rPr lang="fr" sz="4200">
                <a:solidFill>
                  <a:srgbClr val="26A69A"/>
                </a:solidFill>
                <a:latin typeface="Old Standard TT"/>
                <a:ea typeface="Old Standard TT"/>
                <a:cs typeface="Old Standard TT"/>
                <a:sym typeface="Old Standard TT"/>
              </a:rPr>
              <a:t>Objectives</a:t>
            </a:r>
            <a:endParaRPr sz="4200">
              <a:solidFill>
                <a:srgbClr val="26A69A"/>
              </a:solidFill>
              <a:latin typeface="Old Standard TT"/>
              <a:ea typeface="Old Standard TT"/>
              <a:cs typeface="Old Standard TT"/>
              <a:sym typeface="Old Standard TT"/>
            </a:endParaRPr>
          </a:p>
        </p:txBody>
      </p:sp>
      <p:sp>
        <p:nvSpPr>
          <p:cNvPr id="81" name="Google Shape;81;p15"/>
          <p:cNvSpPr/>
          <p:nvPr/>
        </p:nvSpPr>
        <p:spPr>
          <a:xfrm>
            <a:off x="630125" y="1865900"/>
            <a:ext cx="1778700" cy="577200"/>
          </a:xfrm>
          <a:prstGeom prst="roundRect">
            <a:avLst>
              <a:gd fmla="val 16667" name="adj"/>
            </a:avLst>
          </a:prstGeom>
          <a:noFill/>
          <a:ln cap="flat" cmpd="sng" w="76200">
            <a:solidFill>
              <a:schemeClr val="dk2"/>
            </a:solidFill>
            <a:prstDash val="solid"/>
            <a:round/>
            <a:headEnd len="sm" w="sm" type="none"/>
            <a:tailEnd len="sm" w="sm" type="none"/>
          </a:ln>
          <a:effectLst>
            <a:outerShdw blurRad="57150" rotWithShape="0" algn="bl" dir="5400000" dist="19050">
              <a:srgbClr val="000000">
                <a:alpha val="49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2400">
                <a:solidFill>
                  <a:schemeClr val="dk2"/>
                </a:solidFill>
                <a:latin typeface="Old Standard TT"/>
                <a:ea typeface="Old Standard TT"/>
                <a:cs typeface="Old Standard TT"/>
                <a:sym typeface="Old Standard TT"/>
              </a:rPr>
              <a:t>TARGET</a:t>
            </a:r>
            <a:endParaRPr sz="2400">
              <a:solidFill>
                <a:schemeClr val="dk2"/>
              </a:solidFill>
              <a:latin typeface="Old Standard TT"/>
              <a:ea typeface="Old Standard TT"/>
              <a:cs typeface="Old Standard TT"/>
              <a:sym typeface="Old Standard TT"/>
            </a:endParaRPr>
          </a:p>
        </p:txBody>
      </p:sp>
      <p:sp>
        <p:nvSpPr>
          <p:cNvPr id="82" name="Google Shape;82;p15"/>
          <p:cNvSpPr/>
          <p:nvPr/>
        </p:nvSpPr>
        <p:spPr>
          <a:xfrm>
            <a:off x="5170150" y="2283150"/>
            <a:ext cx="1778700" cy="577200"/>
          </a:xfrm>
          <a:prstGeom prst="roundRect">
            <a:avLst>
              <a:gd fmla="val 16667" name="adj"/>
            </a:avLst>
          </a:prstGeom>
          <a:noFill/>
          <a:ln cap="flat" cmpd="sng" w="76200">
            <a:solidFill>
              <a:schemeClr val="dk2"/>
            </a:solidFill>
            <a:prstDash val="solid"/>
            <a:round/>
            <a:headEnd len="sm" w="sm" type="none"/>
            <a:tailEnd len="sm" w="sm" type="none"/>
          </a:ln>
          <a:effectLst>
            <a:outerShdw blurRad="57150" rotWithShape="0" algn="bl" dir="5400000" dist="19050">
              <a:srgbClr val="000000">
                <a:alpha val="49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fr" sz="2400">
                <a:solidFill>
                  <a:schemeClr val="dk2"/>
                </a:solidFill>
                <a:latin typeface="Old Standard TT"/>
                <a:ea typeface="Old Standard TT"/>
                <a:cs typeface="Old Standard TT"/>
                <a:sym typeface="Old Standard TT"/>
              </a:rPr>
              <a:t>RESULTS</a:t>
            </a:r>
            <a:endParaRPr sz="2400">
              <a:solidFill>
                <a:schemeClr val="dk2"/>
              </a:solidFill>
              <a:latin typeface="Old Standard TT"/>
              <a:ea typeface="Old Standard TT"/>
              <a:cs typeface="Old Standard TT"/>
              <a:sym typeface="Old Standard TT"/>
            </a:endParaRPr>
          </a:p>
        </p:txBody>
      </p:sp>
      <p:sp>
        <p:nvSpPr>
          <p:cNvPr id="83" name="Google Shape;83;p15"/>
          <p:cNvSpPr txBox="1"/>
          <p:nvPr/>
        </p:nvSpPr>
        <p:spPr>
          <a:xfrm>
            <a:off x="4799350" y="3206900"/>
            <a:ext cx="3000000" cy="11544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fr" sz="2100">
                <a:solidFill>
                  <a:schemeClr val="dk1"/>
                </a:solidFill>
                <a:latin typeface="Old Standard TT"/>
                <a:ea typeface="Old Standard TT"/>
                <a:cs typeface="Old Standard TT"/>
                <a:sym typeface="Old Standard TT"/>
              </a:rPr>
              <a:t>AUC-ROC:</a:t>
            </a:r>
            <a:endParaRPr sz="2100">
              <a:solidFill>
                <a:schemeClr val="dk1"/>
              </a:solidFill>
              <a:latin typeface="Old Standard TT"/>
              <a:ea typeface="Old Standard TT"/>
              <a:cs typeface="Old Standard TT"/>
              <a:sym typeface="Old Standard TT"/>
            </a:endParaRPr>
          </a:p>
          <a:p>
            <a:pPr indent="0" lvl="0" marL="0" rtl="0" algn="l">
              <a:spcBef>
                <a:spcPts val="0"/>
              </a:spcBef>
              <a:spcAft>
                <a:spcPts val="0"/>
              </a:spcAft>
              <a:buClr>
                <a:schemeClr val="dk1"/>
              </a:buClr>
              <a:buSzPts val="1100"/>
              <a:buFont typeface="Arial"/>
              <a:buNone/>
            </a:pPr>
            <a:r>
              <a:rPr lang="fr" sz="2100">
                <a:solidFill>
                  <a:schemeClr val="dk1"/>
                </a:solidFill>
                <a:latin typeface="Old Standard TT"/>
                <a:ea typeface="Old Standard TT"/>
                <a:cs typeface="Old Standard TT"/>
                <a:sym typeface="Old Standard TT"/>
              </a:rPr>
              <a:t>Recall:</a:t>
            </a:r>
            <a:endParaRPr sz="21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fr" sz="2100">
                <a:solidFill>
                  <a:schemeClr val="dk1"/>
                </a:solidFill>
                <a:latin typeface="Old Standard TT"/>
                <a:ea typeface="Old Standard TT"/>
                <a:cs typeface="Old Standard TT"/>
                <a:sym typeface="Old Standard TT"/>
              </a:rPr>
              <a:t>F1-Score:</a:t>
            </a:r>
            <a:endParaRPr sz="2100">
              <a:solidFill>
                <a:schemeClr val="dk1"/>
              </a:solidFill>
              <a:latin typeface="Old Standard TT"/>
              <a:ea typeface="Old Standard TT"/>
              <a:cs typeface="Old Standard TT"/>
              <a:sym typeface="Old Standard TT"/>
            </a:endParaRPr>
          </a:p>
        </p:txBody>
      </p:sp>
      <p:sp>
        <p:nvSpPr>
          <p:cNvPr id="84" name="Google Shape;84;p15"/>
          <p:cNvSpPr/>
          <p:nvPr/>
        </p:nvSpPr>
        <p:spPr>
          <a:xfrm>
            <a:off x="6143425" y="3143750"/>
            <a:ext cx="1370700" cy="7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3000">
                <a:solidFill>
                  <a:srgbClr val="1D7E75"/>
                </a:solidFill>
                <a:latin typeface="Old Standard TT"/>
                <a:ea typeface="Old Standard TT"/>
                <a:cs typeface="Old Standard TT"/>
                <a:sym typeface="Old Standard TT"/>
              </a:rPr>
              <a:t>59</a:t>
            </a:r>
            <a:r>
              <a:rPr lang="fr" sz="3000">
                <a:solidFill>
                  <a:srgbClr val="1D7E75"/>
                </a:solidFill>
                <a:latin typeface="Old Standard TT"/>
                <a:ea typeface="Old Standard TT"/>
                <a:cs typeface="Old Standard TT"/>
                <a:sym typeface="Old Standard TT"/>
              </a:rPr>
              <a:t>%</a:t>
            </a:r>
            <a:endParaRPr sz="3000">
              <a:solidFill>
                <a:srgbClr val="1D7E75"/>
              </a:solidFill>
              <a:latin typeface="Old Standard TT"/>
              <a:ea typeface="Old Standard TT"/>
              <a:cs typeface="Old Standard TT"/>
              <a:sym typeface="Old Standard TT"/>
            </a:endParaRPr>
          </a:p>
        </p:txBody>
      </p:sp>
      <p:sp>
        <p:nvSpPr>
          <p:cNvPr id="85" name="Google Shape;85;p15"/>
          <p:cNvSpPr/>
          <p:nvPr/>
        </p:nvSpPr>
        <p:spPr>
          <a:xfrm>
            <a:off x="6143425" y="3459200"/>
            <a:ext cx="1370700" cy="7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3000">
                <a:solidFill>
                  <a:srgbClr val="1D7E75"/>
                </a:solidFill>
                <a:latin typeface="Old Standard TT"/>
                <a:ea typeface="Old Standard TT"/>
                <a:cs typeface="Old Standard TT"/>
                <a:sym typeface="Old Standard TT"/>
              </a:rPr>
              <a:t>40</a:t>
            </a:r>
            <a:r>
              <a:rPr lang="fr" sz="3000">
                <a:solidFill>
                  <a:srgbClr val="1D7E75"/>
                </a:solidFill>
                <a:latin typeface="Old Standard TT"/>
                <a:ea typeface="Old Standard TT"/>
                <a:cs typeface="Old Standard TT"/>
                <a:sym typeface="Old Standard TT"/>
              </a:rPr>
              <a:t>%</a:t>
            </a:r>
            <a:endParaRPr sz="3000">
              <a:solidFill>
                <a:srgbClr val="1D7E75"/>
              </a:solidFill>
              <a:latin typeface="Old Standard TT"/>
              <a:ea typeface="Old Standard TT"/>
              <a:cs typeface="Old Standard TT"/>
              <a:sym typeface="Old Standard TT"/>
            </a:endParaRPr>
          </a:p>
        </p:txBody>
      </p:sp>
      <p:sp>
        <p:nvSpPr>
          <p:cNvPr id="86" name="Google Shape;86;p15"/>
          <p:cNvSpPr/>
          <p:nvPr/>
        </p:nvSpPr>
        <p:spPr>
          <a:xfrm>
            <a:off x="6143425" y="3746225"/>
            <a:ext cx="1370700" cy="73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3000">
                <a:solidFill>
                  <a:srgbClr val="1D7E75"/>
                </a:solidFill>
                <a:latin typeface="Old Standard TT"/>
                <a:ea typeface="Old Standard TT"/>
                <a:cs typeface="Old Standard TT"/>
                <a:sym typeface="Old Standard TT"/>
              </a:rPr>
              <a:t>41</a:t>
            </a:r>
            <a:r>
              <a:rPr lang="fr" sz="3000">
                <a:solidFill>
                  <a:srgbClr val="1D7E75"/>
                </a:solidFill>
                <a:latin typeface="Old Standard TT"/>
                <a:ea typeface="Old Standard TT"/>
                <a:cs typeface="Old Standard TT"/>
                <a:sym typeface="Old Standard TT"/>
              </a:rPr>
              <a:t>%</a:t>
            </a:r>
            <a:endParaRPr sz="3000">
              <a:solidFill>
                <a:srgbClr val="1D7E75"/>
              </a:solidFill>
              <a:latin typeface="Old Standard TT"/>
              <a:ea typeface="Old Standard TT"/>
              <a:cs typeface="Old Standard TT"/>
              <a:sym typeface="Old Standard T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fr"/>
              <a:t>From Model Training to Deployment: The End-to-End Process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p:nvPr/>
        </p:nvSpPr>
        <p:spPr>
          <a:xfrm>
            <a:off x="26425" y="1373950"/>
            <a:ext cx="9117600" cy="3725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7" name="Google Shape;97;p17"/>
          <p:cNvSpPr txBox="1"/>
          <p:nvPr>
            <p:ph type="title"/>
          </p:nvPr>
        </p:nvSpPr>
        <p:spPr>
          <a:xfrm>
            <a:off x="311713" y="110725"/>
            <a:ext cx="8520600" cy="613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fr" sz="4200">
                <a:solidFill>
                  <a:schemeClr val="lt2"/>
                </a:solidFill>
              </a:rPr>
              <a:t>Key project steps</a:t>
            </a:r>
            <a:endParaRPr/>
          </a:p>
        </p:txBody>
      </p:sp>
      <p:sp>
        <p:nvSpPr>
          <p:cNvPr id="98" name="Google Shape;98;p17"/>
          <p:cNvSpPr/>
          <p:nvPr/>
        </p:nvSpPr>
        <p:spPr>
          <a:xfrm>
            <a:off x="4821500" y="1699142"/>
            <a:ext cx="2540100" cy="2540100"/>
          </a:xfrm>
          <a:prstGeom prst="donut">
            <a:avLst>
              <a:gd fmla="val 16067" name="adj"/>
            </a:avLst>
          </a:prstGeom>
          <a:solidFill>
            <a:srgbClr val="000000">
              <a:alpha val="107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 name="Google Shape;99;p17"/>
          <p:cNvCxnSpPr/>
          <p:nvPr/>
        </p:nvCxnSpPr>
        <p:spPr>
          <a:xfrm flipH="1">
            <a:off x="7041319" y="2171700"/>
            <a:ext cx="433500" cy="252300"/>
          </a:xfrm>
          <a:prstGeom prst="straightConnector1">
            <a:avLst/>
          </a:prstGeom>
          <a:noFill/>
          <a:ln cap="flat" cmpd="sng" w="19050">
            <a:solidFill>
              <a:srgbClr val="085630"/>
            </a:solidFill>
            <a:prstDash val="solid"/>
            <a:round/>
            <a:headEnd len="med" w="med" type="oval"/>
            <a:tailEnd len="sm" w="sm" type="none"/>
          </a:ln>
        </p:spPr>
      </p:cxnSp>
      <p:cxnSp>
        <p:nvCxnSpPr>
          <p:cNvPr id="100" name="Google Shape;100;p17"/>
          <p:cNvCxnSpPr/>
          <p:nvPr/>
        </p:nvCxnSpPr>
        <p:spPr>
          <a:xfrm rot="10800000">
            <a:off x="6080399" y="4068540"/>
            <a:ext cx="0" cy="460500"/>
          </a:xfrm>
          <a:prstGeom prst="straightConnector1">
            <a:avLst/>
          </a:prstGeom>
          <a:noFill/>
          <a:ln cap="flat" cmpd="sng" w="19050">
            <a:solidFill>
              <a:srgbClr val="0E9453"/>
            </a:solidFill>
            <a:prstDash val="solid"/>
            <a:round/>
            <a:headEnd len="med" w="med" type="oval"/>
            <a:tailEnd len="sm" w="sm" type="none"/>
          </a:ln>
        </p:spPr>
      </p:cxnSp>
      <p:sp>
        <p:nvSpPr>
          <p:cNvPr id="101" name="Google Shape;101;p17"/>
          <p:cNvSpPr/>
          <p:nvPr/>
        </p:nvSpPr>
        <p:spPr>
          <a:xfrm rot="1800047">
            <a:off x="4743843" y="1619834"/>
            <a:ext cx="2690936" cy="2690936"/>
          </a:xfrm>
          <a:prstGeom prst="blockArc">
            <a:avLst>
              <a:gd fmla="val 14414370" name="adj1"/>
              <a:gd fmla="val 694" name="adj2"/>
              <a:gd fmla="val 9562" name="adj3"/>
            </a:avLst>
          </a:prstGeom>
          <a:solidFill>
            <a:srgbClr val="085630"/>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p:nvPr/>
        </p:nvSpPr>
        <p:spPr>
          <a:xfrm flipH="1" rot="-1800047">
            <a:off x="4745956" y="1619834"/>
            <a:ext cx="2690936" cy="2690936"/>
          </a:xfrm>
          <a:prstGeom prst="blockArc">
            <a:avLst>
              <a:gd fmla="val 14348563" name="adj1"/>
              <a:gd fmla="val 21472873" name="adj2"/>
              <a:gd fmla="val 9381" name="adj3"/>
            </a:avLst>
          </a:prstGeom>
          <a:solidFill>
            <a:schemeClr val="lt2"/>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 name="Google Shape;103;p17"/>
          <p:cNvGrpSpPr/>
          <p:nvPr/>
        </p:nvGrpSpPr>
        <p:grpSpPr>
          <a:xfrm>
            <a:off x="3204836" y="1848524"/>
            <a:ext cx="1931633" cy="669600"/>
            <a:chOff x="1680836" y="1315124"/>
            <a:chExt cx="1931633" cy="669600"/>
          </a:xfrm>
        </p:grpSpPr>
        <p:cxnSp>
          <p:nvCxnSpPr>
            <p:cNvPr id="104" name="Google Shape;104;p17"/>
            <p:cNvCxnSpPr/>
            <p:nvPr/>
          </p:nvCxnSpPr>
          <p:spPr>
            <a:xfrm>
              <a:off x="3178969" y="1638300"/>
              <a:ext cx="433500" cy="252300"/>
            </a:xfrm>
            <a:prstGeom prst="straightConnector1">
              <a:avLst/>
            </a:prstGeom>
            <a:noFill/>
            <a:ln cap="flat" cmpd="sng" w="19050">
              <a:solidFill>
                <a:srgbClr val="65F0AC"/>
              </a:solidFill>
              <a:prstDash val="solid"/>
              <a:round/>
              <a:headEnd len="med" w="med" type="oval"/>
              <a:tailEnd len="sm" w="sm" type="none"/>
            </a:ln>
          </p:spPr>
        </p:cxnSp>
        <p:sp>
          <p:nvSpPr>
            <p:cNvPr id="105" name="Google Shape;105;p17"/>
            <p:cNvSpPr txBox="1"/>
            <p:nvPr/>
          </p:nvSpPr>
          <p:spPr>
            <a:xfrm>
              <a:off x="1680836" y="1315124"/>
              <a:ext cx="1495200" cy="669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fr" sz="800">
                  <a:solidFill>
                    <a:schemeClr val="dk1"/>
                  </a:solidFill>
                  <a:latin typeface="Roboto"/>
                  <a:ea typeface="Roboto"/>
                  <a:cs typeface="Roboto"/>
                  <a:sym typeface="Roboto"/>
                </a:rPr>
                <a:t>LOREM 3</a:t>
              </a:r>
              <a:endParaRPr sz="800">
                <a:solidFill>
                  <a:schemeClr val="dk1"/>
                </a:solidFill>
                <a:latin typeface="Roboto"/>
                <a:ea typeface="Roboto"/>
                <a:cs typeface="Roboto"/>
                <a:sym typeface="Roboto"/>
              </a:endParaRPr>
            </a:p>
            <a:p>
              <a:pPr indent="0" lvl="0" marL="0" rtl="0" algn="r">
                <a:lnSpc>
                  <a:spcPct val="115000"/>
                </a:lnSpc>
                <a:spcBef>
                  <a:spcPts val="0"/>
                </a:spcBef>
                <a:spcAft>
                  <a:spcPts val="0"/>
                </a:spcAft>
                <a:buNone/>
              </a:pPr>
              <a:r>
                <a:t/>
              </a:r>
              <a:endParaRPr sz="600">
                <a:solidFill>
                  <a:schemeClr val="dk1"/>
                </a:solidFill>
                <a:latin typeface="Roboto"/>
                <a:ea typeface="Roboto"/>
                <a:cs typeface="Roboto"/>
                <a:sym typeface="Roboto"/>
              </a:endParaRPr>
            </a:p>
            <a:p>
              <a:pPr indent="0" lvl="0" marL="0" rtl="0" algn="r">
                <a:lnSpc>
                  <a:spcPct val="115000"/>
                </a:lnSpc>
                <a:spcBef>
                  <a:spcPts val="0"/>
                </a:spcBef>
                <a:spcAft>
                  <a:spcPts val="0"/>
                </a:spcAft>
                <a:buNone/>
              </a:pPr>
              <a:r>
                <a:rPr b="1" lang="fr" sz="500">
                  <a:solidFill>
                    <a:schemeClr val="dk1"/>
                  </a:solidFill>
                  <a:latin typeface="Roboto"/>
                  <a:ea typeface="Roboto"/>
                  <a:cs typeface="Roboto"/>
                  <a:sym typeface="Roboto"/>
                </a:rPr>
                <a:t>Vestibulum nec congue tempus lorem ipsum</a:t>
              </a:r>
              <a:endParaRPr b="1" sz="500">
                <a:solidFill>
                  <a:schemeClr val="dk1"/>
                </a:solidFill>
                <a:latin typeface="Roboto"/>
                <a:ea typeface="Roboto"/>
                <a:cs typeface="Roboto"/>
                <a:sym typeface="Roboto"/>
              </a:endParaRPr>
            </a:p>
          </p:txBody>
        </p:sp>
      </p:grpSp>
      <p:sp>
        <p:nvSpPr>
          <p:cNvPr id="106" name="Google Shape;106;p17"/>
          <p:cNvSpPr/>
          <p:nvPr/>
        </p:nvSpPr>
        <p:spPr>
          <a:xfrm rot="-8100000">
            <a:off x="5906715" y="1560793"/>
            <a:ext cx="363170" cy="36317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7"/>
          <p:cNvSpPr/>
          <p:nvPr/>
        </p:nvSpPr>
        <p:spPr>
          <a:xfrm flipH="1" rot="-9000757">
            <a:off x="4744953" y="1618208"/>
            <a:ext cx="2690226" cy="2690226"/>
          </a:xfrm>
          <a:prstGeom prst="blockArc">
            <a:avLst>
              <a:gd fmla="val 14316164" name="adj1"/>
              <a:gd fmla="val 21502663" name="adj2"/>
              <a:gd fmla="val 9415" name="adj3"/>
            </a:avLst>
          </a:prstGeom>
          <a:solidFill>
            <a:srgbClr val="0E9453"/>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p:nvPr/>
        </p:nvSpPr>
        <p:spPr>
          <a:xfrm rot="-1027861">
            <a:off x="7009874" y="3383232"/>
            <a:ext cx="312672" cy="312672"/>
          </a:xfrm>
          <a:prstGeom prst="rtTriangle">
            <a:avLst/>
          </a:prstGeom>
          <a:solidFill>
            <a:srgbClr val="085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7"/>
          <p:cNvSpPr/>
          <p:nvPr/>
        </p:nvSpPr>
        <p:spPr>
          <a:xfrm rot="6359841">
            <a:off x="4839801" y="3381162"/>
            <a:ext cx="363580" cy="363580"/>
          </a:xfrm>
          <a:prstGeom prst="rtTriangl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228122" y="1835813"/>
            <a:ext cx="2463297" cy="2649325"/>
            <a:chOff x="-503" y="2261375"/>
            <a:chExt cx="2463297" cy="2649325"/>
          </a:xfrm>
        </p:grpSpPr>
        <p:pic>
          <p:nvPicPr>
            <p:cNvPr id="111" name="Google Shape;111;p17"/>
            <p:cNvPicPr preferRelativeResize="0"/>
            <p:nvPr/>
          </p:nvPicPr>
          <p:blipFill>
            <a:blip r:embed="rId3">
              <a:alphaModFix amt="56000"/>
            </a:blip>
            <a:stretch>
              <a:fillRect/>
            </a:stretch>
          </p:blipFill>
          <p:spPr>
            <a:xfrm>
              <a:off x="1695077" y="3359209"/>
              <a:ext cx="767717" cy="263744"/>
            </a:xfrm>
            <a:prstGeom prst="rect">
              <a:avLst/>
            </a:prstGeom>
            <a:noFill/>
            <a:ln>
              <a:noFill/>
            </a:ln>
          </p:spPr>
        </p:pic>
        <p:pic>
          <p:nvPicPr>
            <p:cNvPr id="112" name="Google Shape;112;p17"/>
            <p:cNvPicPr preferRelativeResize="0"/>
            <p:nvPr/>
          </p:nvPicPr>
          <p:blipFill>
            <a:blip r:embed="rId4">
              <a:alphaModFix amt="56000"/>
            </a:blip>
            <a:stretch>
              <a:fillRect/>
            </a:stretch>
          </p:blipFill>
          <p:spPr>
            <a:xfrm>
              <a:off x="1454732" y="4359600"/>
              <a:ext cx="869514" cy="241705"/>
            </a:xfrm>
            <a:prstGeom prst="rect">
              <a:avLst/>
            </a:prstGeom>
            <a:noFill/>
            <a:ln>
              <a:noFill/>
            </a:ln>
          </p:spPr>
        </p:pic>
        <p:pic>
          <p:nvPicPr>
            <p:cNvPr id="113" name="Google Shape;113;p17"/>
            <p:cNvPicPr preferRelativeResize="0"/>
            <p:nvPr/>
          </p:nvPicPr>
          <p:blipFill>
            <a:blip r:embed="rId5">
              <a:alphaModFix amt="56000"/>
            </a:blip>
            <a:stretch>
              <a:fillRect/>
            </a:stretch>
          </p:blipFill>
          <p:spPr>
            <a:xfrm>
              <a:off x="151904" y="4388771"/>
              <a:ext cx="952322" cy="183349"/>
            </a:xfrm>
            <a:prstGeom prst="rect">
              <a:avLst/>
            </a:prstGeom>
            <a:noFill/>
            <a:ln>
              <a:noFill/>
            </a:ln>
          </p:spPr>
        </p:pic>
        <p:pic>
          <p:nvPicPr>
            <p:cNvPr id="114" name="Google Shape;114;p17"/>
            <p:cNvPicPr preferRelativeResize="0"/>
            <p:nvPr/>
          </p:nvPicPr>
          <p:blipFill>
            <a:blip r:embed="rId6">
              <a:alphaModFix amt="56000"/>
            </a:blip>
            <a:stretch>
              <a:fillRect/>
            </a:stretch>
          </p:blipFill>
          <p:spPr>
            <a:xfrm>
              <a:off x="76408" y="3305088"/>
              <a:ext cx="742014" cy="275213"/>
            </a:xfrm>
            <a:prstGeom prst="rect">
              <a:avLst/>
            </a:prstGeom>
            <a:noFill/>
            <a:ln>
              <a:noFill/>
            </a:ln>
          </p:spPr>
        </p:pic>
        <p:pic>
          <p:nvPicPr>
            <p:cNvPr id="115" name="Google Shape;115;p17"/>
            <p:cNvPicPr preferRelativeResize="0"/>
            <p:nvPr/>
          </p:nvPicPr>
          <p:blipFill>
            <a:blip r:embed="rId7">
              <a:alphaModFix amt="56000"/>
            </a:blip>
            <a:stretch>
              <a:fillRect/>
            </a:stretch>
          </p:blipFill>
          <p:spPr>
            <a:xfrm>
              <a:off x="966867" y="3332896"/>
              <a:ext cx="643031" cy="250763"/>
            </a:xfrm>
            <a:prstGeom prst="rect">
              <a:avLst/>
            </a:prstGeom>
            <a:noFill/>
            <a:ln>
              <a:noFill/>
            </a:ln>
          </p:spPr>
        </p:pic>
        <p:pic>
          <p:nvPicPr>
            <p:cNvPr id="116" name="Google Shape;116;p17"/>
            <p:cNvPicPr preferRelativeResize="0"/>
            <p:nvPr/>
          </p:nvPicPr>
          <p:blipFill>
            <a:blip r:embed="rId8">
              <a:alphaModFix amt="56000"/>
            </a:blip>
            <a:stretch>
              <a:fillRect/>
            </a:stretch>
          </p:blipFill>
          <p:spPr>
            <a:xfrm>
              <a:off x="152600" y="2504722"/>
              <a:ext cx="521907" cy="327865"/>
            </a:xfrm>
            <a:prstGeom prst="rect">
              <a:avLst/>
            </a:prstGeom>
            <a:noFill/>
            <a:ln>
              <a:noFill/>
            </a:ln>
          </p:spPr>
        </p:pic>
        <p:pic>
          <p:nvPicPr>
            <p:cNvPr id="117" name="Google Shape;117;p17"/>
            <p:cNvPicPr preferRelativeResize="0"/>
            <p:nvPr/>
          </p:nvPicPr>
          <p:blipFill>
            <a:blip r:embed="rId9">
              <a:alphaModFix amt="56000"/>
            </a:blip>
            <a:stretch>
              <a:fillRect/>
            </a:stretch>
          </p:blipFill>
          <p:spPr>
            <a:xfrm>
              <a:off x="1299322" y="4050192"/>
              <a:ext cx="856498" cy="241705"/>
            </a:xfrm>
            <a:prstGeom prst="rect">
              <a:avLst/>
            </a:prstGeom>
            <a:noFill/>
            <a:ln>
              <a:noFill/>
            </a:ln>
          </p:spPr>
        </p:pic>
        <p:pic>
          <p:nvPicPr>
            <p:cNvPr id="118" name="Google Shape;118;p17"/>
            <p:cNvPicPr preferRelativeResize="0"/>
            <p:nvPr/>
          </p:nvPicPr>
          <p:blipFill>
            <a:blip r:embed="rId10">
              <a:alphaModFix amt="56000"/>
            </a:blip>
            <a:stretch>
              <a:fillRect/>
            </a:stretch>
          </p:blipFill>
          <p:spPr>
            <a:xfrm>
              <a:off x="46760" y="2914240"/>
              <a:ext cx="767716" cy="309194"/>
            </a:xfrm>
            <a:prstGeom prst="rect">
              <a:avLst/>
            </a:prstGeom>
            <a:noFill/>
            <a:ln>
              <a:noFill/>
            </a:ln>
          </p:spPr>
        </p:pic>
        <p:pic>
          <p:nvPicPr>
            <p:cNvPr id="119" name="Google Shape;119;p17"/>
            <p:cNvPicPr preferRelativeResize="0"/>
            <p:nvPr/>
          </p:nvPicPr>
          <p:blipFill>
            <a:blip r:embed="rId11">
              <a:alphaModFix amt="56000"/>
            </a:blip>
            <a:stretch>
              <a:fillRect/>
            </a:stretch>
          </p:blipFill>
          <p:spPr>
            <a:xfrm>
              <a:off x="793206" y="2614843"/>
              <a:ext cx="643018" cy="219570"/>
            </a:xfrm>
            <a:prstGeom prst="rect">
              <a:avLst/>
            </a:prstGeom>
            <a:noFill/>
            <a:ln>
              <a:noFill/>
            </a:ln>
          </p:spPr>
        </p:pic>
        <p:pic>
          <p:nvPicPr>
            <p:cNvPr id="120" name="Google Shape;120;p17"/>
            <p:cNvPicPr preferRelativeResize="0"/>
            <p:nvPr/>
          </p:nvPicPr>
          <p:blipFill>
            <a:blip r:embed="rId12">
              <a:alphaModFix amt="56000"/>
            </a:blip>
            <a:stretch>
              <a:fillRect/>
            </a:stretch>
          </p:blipFill>
          <p:spPr>
            <a:xfrm>
              <a:off x="1343616" y="4702735"/>
              <a:ext cx="939343" cy="174219"/>
            </a:xfrm>
            <a:prstGeom prst="rect">
              <a:avLst/>
            </a:prstGeom>
            <a:noFill/>
            <a:ln>
              <a:noFill/>
            </a:ln>
          </p:spPr>
        </p:pic>
        <p:pic>
          <p:nvPicPr>
            <p:cNvPr id="121" name="Google Shape;121;p17"/>
            <p:cNvPicPr preferRelativeResize="0"/>
            <p:nvPr/>
          </p:nvPicPr>
          <p:blipFill>
            <a:blip r:embed="rId13">
              <a:alphaModFix amt="56000"/>
            </a:blip>
            <a:stretch>
              <a:fillRect/>
            </a:stretch>
          </p:blipFill>
          <p:spPr>
            <a:xfrm>
              <a:off x="-503" y="4668993"/>
              <a:ext cx="1071235" cy="241707"/>
            </a:xfrm>
            <a:prstGeom prst="rect">
              <a:avLst/>
            </a:prstGeom>
            <a:noFill/>
            <a:ln>
              <a:noFill/>
            </a:ln>
          </p:spPr>
        </p:pic>
        <p:pic>
          <p:nvPicPr>
            <p:cNvPr id="122" name="Google Shape;122;p17"/>
            <p:cNvPicPr preferRelativeResize="0"/>
            <p:nvPr/>
          </p:nvPicPr>
          <p:blipFill>
            <a:blip r:embed="rId14">
              <a:alphaModFix amt="56000"/>
            </a:blip>
            <a:stretch>
              <a:fillRect/>
            </a:stretch>
          </p:blipFill>
          <p:spPr>
            <a:xfrm>
              <a:off x="1537437" y="2658916"/>
              <a:ext cx="856497" cy="238521"/>
            </a:xfrm>
            <a:prstGeom prst="rect">
              <a:avLst/>
            </a:prstGeom>
            <a:noFill/>
            <a:ln>
              <a:noFill/>
            </a:ln>
          </p:spPr>
        </p:pic>
        <p:pic>
          <p:nvPicPr>
            <p:cNvPr id="123" name="Google Shape;123;p17"/>
            <p:cNvPicPr preferRelativeResize="0"/>
            <p:nvPr/>
          </p:nvPicPr>
          <p:blipFill>
            <a:blip r:embed="rId15">
              <a:alphaModFix amt="56000"/>
            </a:blip>
            <a:stretch>
              <a:fillRect/>
            </a:stretch>
          </p:blipFill>
          <p:spPr>
            <a:xfrm>
              <a:off x="46760" y="4041150"/>
              <a:ext cx="767717" cy="250755"/>
            </a:xfrm>
            <a:prstGeom prst="rect">
              <a:avLst/>
            </a:prstGeom>
            <a:noFill/>
            <a:ln>
              <a:noFill/>
            </a:ln>
          </p:spPr>
        </p:pic>
        <p:pic>
          <p:nvPicPr>
            <p:cNvPr id="124" name="Google Shape;124;p17"/>
            <p:cNvPicPr preferRelativeResize="0"/>
            <p:nvPr/>
          </p:nvPicPr>
          <p:blipFill>
            <a:blip r:embed="rId16">
              <a:alphaModFix amt="56000"/>
            </a:blip>
            <a:stretch>
              <a:fillRect/>
            </a:stretch>
          </p:blipFill>
          <p:spPr>
            <a:xfrm>
              <a:off x="122961" y="3661951"/>
              <a:ext cx="521905" cy="282329"/>
            </a:xfrm>
            <a:prstGeom prst="rect">
              <a:avLst/>
            </a:prstGeom>
            <a:noFill/>
            <a:ln>
              <a:noFill/>
            </a:ln>
          </p:spPr>
        </p:pic>
        <p:pic>
          <p:nvPicPr>
            <p:cNvPr id="125" name="Google Shape;125;p17"/>
            <p:cNvPicPr preferRelativeResize="0"/>
            <p:nvPr/>
          </p:nvPicPr>
          <p:blipFill>
            <a:blip r:embed="rId17">
              <a:alphaModFix amt="56000"/>
            </a:blip>
            <a:stretch>
              <a:fillRect/>
            </a:stretch>
          </p:blipFill>
          <p:spPr>
            <a:xfrm>
              <a:off x="1104220" y="2994308"/>
              <a:ext cx="713600" cy="241705"/>
            </a:xfrm>
            <a:prstGeom prst="rect">
              <a:avLst/>
            </a:prstGeom>
            <a:noFill/>
            <a:ln>
              <a:noFill/>
            </a:ln>
          </p:spPr>
        </p:pic>
        <p:pic>
          <p:nvPicPr>
            <p:cNvPr id="126" name="Google Shape;126;p17"/>
            <p:cNvPicPr preferRelativeResize="0"/>
            <p:nvPr/>
          </p:nvPicPr>
          <p:blipFill>
            <a:blip r:embed="rId18">
              <a:alphaModFix amt="56000"/>
            </a:blip>
            <a:stretch>
              <a:fillRect/>
            </a:stretch>
          </p:blipFill>
          <p:spPr>
            <a:xfrm>
              <a:off x="793206" y="2261375"/>
              <a:ext cx="643019" cy="251382"/>
            </a:xfrm>
            <a:prstGeom prst="rect">
              <a:avLst/>
            </a:prstGeom>
            <a:noFill/>
            <a:ln>
              <a:noFill/>
            </a:ln>
          </p:spPr>
        </p:pic>
        <p:pic>
          <p:nvPicPr>
            <p:cNvPr id="127" name="Google Shape;127;p17"/>
            <p:cNvPicPr preferRelativeResize="0"/>
            <p:nvPr/>
          </p:nvPicPr>
          <p:blipFill>
            <a:blip r:embed="rId19">
              <a:alphaModFix amt="56000"/>
            </a:blip>
            <a:stretch>
              <a:fillRect/>
            </a:stretch>
          </p:blipFill>
          <p:spPr>
            <a:xfrm>
              <a:off x="840982" y="3680537"/>
              <a:ext cx="783616" cy="263743"/>
            </a:xfrm>
            <a:prstGeom prst="rect">
              <a:avLst/>
            </a:prstGeom>
            <a:solidFill>
              <a:schemeClr val="dk1"/>
            </a:solidFill>
            <a:ln>
              <a:noFill/>
            </a:ln>
          </p:spPr>
        </p:pic>
        <p:pic>
          <p:nvPicPr>
            <p:cNvPr id="128" name="Google Shape;128;p17"/>
            <p:cNvPicPr preferRelativeResize="0"/>
            <p:nvPr/>
          </p:nvPicPr>
          <p:blipFill>
            <a:blip r:embed="rId20">
              <a:alphaModFix amt="56000"/>
            </a:blip>
            <a:stretch>
              <a:fillRect/>
            </a:stretch>
          </p:blipFill>
          <p:spPr>
            <a:xfrm>
              <a:off x="1757432" y="3745695"/>
              <a:ext cx="643018" cy="181767"/>
            </a:xfrm>
            <a:prstGeom prst="rect">
              <a:avLst/>
            </a:prstGeom>
            <a:solidFill>
              <a:schemeClr val="dk1"/>
            </a:solidFill>
            <a:ln>
              <a:noFill/>
            </a:ln>
          </p:spPr>
        </p:pic>
      </p:grpSp>
      <p:sp>
        <p:nvSpPr>
          <p:cNvPr id="129" name="Google Shape;129;p17"/>
          <p:cNvSpPr txBox="1"/>
          <p:nvPr/>
        </p:nvSpPr>
        <p:spPr>
          <a:xfrm>
            <a:off x="7004200" y="1526350"/>
            <a:ext cx="1793100" cy="6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fr" sz="1800">
                <a:solidFill>
                  <a:schemeClr val="accent1"/>
                </a:solidFill>
                <a:latin typeface="Old Standard TT"/>
                <a:ea typeface="Old Standard TT"/>
                <a:cs typeface="Old Standard TT"/>
                <a:sym typeface="Old Standard TT"/>
              </a:rPr>
              <a:t>Data Collection</a:t>
            </a:r>
            <a:endParaRPr b="1" sz="1800">
              <a:solidFill>
                <a:schemeClr val="accent1"/>
              </a:solidFill>
              <a:latin typeface="Old Standard TT"/>
              <a:ea typeface="Old Standard TT"/>
              <a:cs typeface="Old Standard TT"/>
              <a:sym typeface="Old Standard TT"/>
            </a:endParaRPr>
          </a:p>
        </p:txBody>
      </p:sp>
      <p:sp>
        <p:nvSpPr>
          <p:cNvPr id="130" name="Google Shape;130;p17"/>
          <p:cNvSpPr txBox="1"/>
          <p:nvPr/>
        </p:nvSpPr>
        <p:spPr>
          <a:xfrm>
            <a:off x="7520200" y="3029550"/>
            <a:ext cx="1725900" cy="6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fr" sz="1800">
                <a:solidFill>
                  <a:schemeClr val="accent1"/>
                </a:solidFill>
                <a:latin typeface="Old Standard TT"/>
                <a:ea typeface="Old Standard TT"/>
                <a:cs typeface="Old Standard TT"/>
                <a:sym typeface="Old Standard TT"/>
              </a:rPr>
              <a:t>Data Preprocessing</a:t>
            </a:r>
            <a:endParaRPr b="1" sz="1800">
              <a:solidFill>
                <a:schemeClr val="accent1"/>
              </a:solidFill>
              <a:latin typeface="Old Standard TT"/>
              <a:ea typeface="Old Standard TT"/>
              <a:cs typeface="Old Standard TT"/>
              <a:sym typeface="Old Standard TT"/>
            </a:endParaRPr>
          </a:p>
        </p:txBody>
      </p:sp>
      <p:sp>
        <p:nvSpPr>
          <p:cNvPr id="131" name="Google Shape;131;p17"/>
          <p:cNvSpPr txBox="1"/>
          <p:nvPr/>
        </p:nvSpPr>
        <p:spPr>
          <a:xfrm>
            <a:off x="6221475" y="4389950"/>
            <a:ext cx="1581000" cy="6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fr" sz="1800">
                <a:solidFill>
                  <a:schemeClr val="accent1"/>
                </a:solidFill>
                <a:latin typeface="Old Standard TT"/>
                <a:ea typeface="Old Standard TT"/>
                <a:cs typeface="Old Standard TT"/>
                <a:sym typeface="Old Standard TT"/>
              </a:rPr>
              <a:t>Model Training</a:t>
            </a:r>
            <a:endParaRPr b="1" sz="1800">
              <a:solidFill>
                <a:schemeClr val="accent1"/>
              </a:solidFill>
              <a:latin typeface="Old Standard TT"/>
              <a:ea typeface="Old Standard TT"/>
              <a:cs typeface="Old Standard TT"/>
              <a:sym typeface="Old Standard TT"/>
            </a:endParaRPr>
          </a:p>
        </p:txBody>
      </p:sp>
      <p:sp>
        <p:nvSpPr>
          <p:cNvPr id="132" name="Google Shape;132;p17"/>
          <p:cNvSpPr txBox="1"/>
          <p:nvPr/>
        </p:nvSpPr>
        <p:spPr>
          <a:xfrm>
            <a:off x="3665938" y="3992200"/>
            <a:ext cx="1581000" cy="6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fr" sz="1800">
                <a:solidFill>
                  <a:schemeClr val="accent1"/>
                </a:solidFill>
                <a:latin typeface="Old Standard TT"/>
                <a:ea typeface="Old Standard TT"/>
                <a:cs typeface="Old Standard TT"/>
                <a:sym typeface="Old Standard TT"/>
              </a:rPr>
              <a:t>Model Evaluation</a:t>
            </a:r>
            <a:endParaRPr b="1" sz="1800">
              <a:solidFill>
                <a:schemeClr val="accent1"/>
              </a:solidFill>
              <a:latin typeface="Old Standard TT"/>
              <a:ea typeface="Old Standard TT"/>
              <a:cs typeface="Old Standard TT"/>
              <a:sym typeface="Old Standard TT"/>
            </a:endParaRPr>
          </a:p>
        </p:txBody>
      </p:sp>
      <p:sp>
        <p:nvSpPr>
          <p:cNvPr id="133" name="Google Shape;133;p17"/>
          <p:cNvSpPr txBox="1"/>
          <p:nvPr/>
        </p:nvSpPr>
        <p:spPr>
          <a:xfrm>
            <a:off x="3256575" y="2853863"/>
            <a:ext cx="1581000" cy="6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fr" sz="1800">
                <a:solidFill>
                  <a:schemeClr val="accent1"/>
                </a:solidFill>
                <a:latin typeface="Old Standard TT"/>
                <a:ea typeface="Old Standard TT"/>
                <a:cs typeface="Old Standard TT"/>
                <a:sym typeface="Old Standard TT"/>
              </a:rPr>
              <a:t>Model Deployment</a:t>
            </a:r>
            <a:endParaRPr b="1" sz="1800">
              <a:solidFill>
                <a:schemeClr val="accent1"/>
              </a:solidFill>
              <a:latin typeface="Old Standard TT"/>
              <a:ea typeface="Old Standard TT"/>
              <a:cs typeface="Old Standard TT"/>
              <a:sym typeface="Old Standard TT"/>
            </a:endParaRPr>
          </a:p>
        </p:txBody>
      </p:sp>
      <p:sp>
        <p:nvSpPr>
          <p:cNvPr id="134" name="Google Shape;134;p17"/>
          <p:cNvSpPr txBox="1"/>
          <p:nvPr/>
        </p:nvSpPr>
        <p:spPr>
          <a:xfrm>
            <a:off x="3143075" y="1482288"/>
            <a:ext cx="1581000" cy="61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fr" sz="1800">
                <a:solidFill>
                  <a:schemeClr val="accent1"/>
                </a:solidFill>
                <a:latin typeface="Old Standard TT"/>
                <a:ea typeface="Old Standard TT"/>
                <a:cs typeface="Old Standard TT"/>
                <a:sym typeface="Old Standard TT"/>
              </a:rPr>
              <a:t>Monitoring &amp; Optimization</a:t>
            </a:r>
            <a:endParaRPr b="1" sz="1800">
              <a:solidFill>
                <a:schemeClr val="accent1"/>
              </a:solidFill>
              <a:latin typeface="Old Standard TT"/>
              <a:ea typeface="Old Standard TT"/>
              <a:cs typeface="Old Standard TT"/>
              <a:sym typeface="Old Standard T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fr"/>
              <a:t>Dataset &amp; Preprocessing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Dataset</a:t>
            </a:r>
            <a:endParaRPr/>
          </a:p>
        </p:txBody>
      </p:sp>
      <p:sp>
        <p:nvSpPr>
          <p:cNvPr id="145" name="Google Shape;145;p19"/>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fr" sz="1600"/>
              <a:t>2756 images</a:t>
            </a:r>
            <a:endParaRPr sz="1600"/>
          </a:p>
          <a:p>
            <a:pPr indent="-330200" lvl="0" marL="457200" rtl="0" algn="l">
              <a:spcBef>
                <a:spcPts val="1600"/>
              </a:spcBef>
              <a:spcAft>
                <a:spcPts val="0"/>
              </a:spcAft>
              <a:buSzPts val="1600"/>
              <a:buAutoNum type="arabicPeriod"/>
            </a:pPr>
            <a:r>
              <a:rPr lang="fr" sz="1600"/>
              <a:t>3 classes</a:t>
            </a:r>
            <a:endParaRPr sz="1600"/>
          </a:p>
          <a:p>
            <a:pPr indent="-330200" lvl="0" marL="457200" rtl="0" algn="l">
              <a:spcBef>
                <a:spcPts val="1600"/>
              </a:spcBef>
              <a:spcAft>
                <a:spcPts val="0"/>
              </a:spcAft>
              <a:buSzPts val="1600"/>
              <a:buAutoNum type="arabicPeriod"/>
            </a:pPr>
            <a:r>
              <a:rPr lang="fr" sz="1600"/>
              <a:t>3 folders: train / test / validation</a:t>
            </a:r>
            <a:endParaRPr sz="1600"/>
          </a:p>
          <a:p>
            <a:pPr indent="0" lvl="0" marL="0" rtl="0" algn="l">
              <a:spcBef>
                <a:spcPts val="1600"/>
              </a:spcBef>
              <a:spcAft>
                <a:spcPts val="1600"/>
              </a:spcAft>
              <a:buNone/>
            </a:pPr>
            <a:r>
              <a:rPr lang="fr" sz="1600"/>
              <a:t>source: </a:t>
            </a:r>
            <a:r>
              <a:rPr lang="fr" sz="1600" u="sng">
                <a:solidFill>
                  <a:schemeClr val="hlink"/>
                </a:solidFill>
                <a:hlinkClick r:id="rId3"/>
              </a:rPr>
              <a:t>kaggle</a:t>
            </a:r>
            <a:endParaRPr sz="1600"/>
          </a:p>
        </p:txBody>
      </p:sp>
      <p:pic>
        <p:nvPicPr>
          <p:cNvPr id="146" name="Google Shape;146;p19"/>
          <p:cNvPicPr preferRelativeResize="0"/>
          <p:nvPr/>
        </p:nvPicPr>
        <p:blipFill>
          <a:blip r:embed="rId4">
            <a:alphaModFix/>
          </a:blip>
          <a:stretch>
            <a:fillRect/>
          </a:stretch>
        </p:blipFill>
        <p:spPr>
          <a:xfrm>
            <a:off x="4727850" y="3265900"/>
            <a:ext cx="3999899" cy="1416395"/>
          </a:xfrm>
          <a:prstGeom prst="rect">
            <a:avLst/>
          </a:prstGeom>
          <a:noFill/>
          <a:ln>
            <a:noFill/>
          </a:ln>
        </p:spPr>
      </p:pic>
      <p:pic>
        <p:nvPicPr>
          <p:cNvPr id="147" name="Google Shape;147;p19"/>
          <p:cNvPicPr preferRelativeResize="0"/>
          <p:nvPr/>
        </p:nvPicPr>
        <p:blipFill>
          <a:blip r:embed="rId5">
            <a:alphaModFix/>
          </a:blip>
          <a:stretch>
            <a:fillRect/>
          </a:stretch>
        </p:blipFill>
        <p:spPr>
          <a:xfrm>
            <a:off x="4464000" y="743825"/>
            <a:ext cx="4527600" cy="228378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Preprocessing</a:t>
            </a:r>
            <a:endParaRPr/>
          </a:p>
        </p:txBody>
      </p:sp>
      <p:sp>
        <p:nvSpPr>
          <p:cNvPr id="153" name="Google Shape;153;p20"/>
          <p:cNvSpPr/>
          <p:nvPr/>
        </p:nvSpPr>
        <p:spPr>
          <a:xfrm>
            <a:off x="3297500" y="1165742"/>
            <a:ext cx="2540100" cy="2540100"/>
          </a:xfrm>
          <a:prstGeom prst="donut">
            <a:avLst>
              <a:gd fmla="val 16067" name="adj"/>
            </a:avLst>
          </a:prstGeom>
          <a:solidFill>
            <a:srgbClr val="000000">
              <a:alpha val="107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 name="Google Shape;154;p20"/>
          <p:cNvGrpSpPr/>
          <p:nvPr/>
        </p:nvGrpSpPr>
        <p:grpSpPr>
          <a:xfrm>
            <a:off x="968795" y="1315125"/>
            <a:ext cx="2643674" cy="669600"/>
            <a:chOff x="968795" y="1315125"/>
            <a:chExt cx="2643674" cy="669600"/>
          </a:xfrm>
        </p:grpSpPr>
        <p:cxnSp>
          <p:nvCxnSpPr>
            <p:cNvPr id="155" name="Google Shape;155;p20"/>
            <p:cNvCxnSpPr/>
            <p:nvPr/>
          </p:nvCxnSpPr>
          <p:spPr>
            <a:xfrm>
              <a:off x="3178969" y="1638300"/>
              <a:ext cx="433500" cy="252300"/>
            </a:xfrm>
            <a:prstGeom prst="straightConnector1">
              <a:avLst/>
            </a:prstGeom>
            <a:noFill/>
            <a:ln cap="flat" cmpd="sng" w="19050">
              <a:solidFill>
                <a:srgbClr val="65F0AC"/>
              </a:solidFill>
              <a:prstDash val="solid"/>
              <a:round/>
              <a:headEnd len="med" w="med" type="oval"/>
              <a:tailEnd len="sm" w="sm" type="none"/>
            </a:ln>
          </p:spPr>
        </p:cxnSp>
        <p:sp>
          <p:nvSpPr>
            <p:cNvPr id="156" name="Google Shape;156;p20"/>
            <p:cNvSpPr txBox="1"/>
            <p:nvPr/>
          </p:nvSpPr>
          <p:spPr>
            <a:xfrm>
              <a:off x="968795" y="1315125"/>
              <a:ext cx="2207100" cy="669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fr" sz="2000">
                  <a:latin typeface="Old Standard TT"/>
                  <a:ea typeface="Old Standard TT"/>
                  <a:cs typeface="Old Standard TT"/>
                  <a:sym typeface="Old Standard TT"/>
                </a:rPr>
                <a:t>Image augmentation</a:t>
              </a:r>
              <a:endParaRPr b="1" sz="2000">
                <a:latin typeface="Old Standard TT"/>
                <a:ea typeface="Old Standard TT"/>
                <a:cs typeface="Old Standard TT"/>
                <a:sym typeface="Old Standard TT"/>
              </a:endParaRPr>
            </a:p>
          </p:txBody>
        </p:sp>
      </p:grpSp>
      <p:grpSp>
        <p:nvGrpSpPr>
          <p:cNvPr id="157" name="Google Shape;157;p20"/>
          <p:cNvGrpSpPr/>
          <p:nvPr/>
        </p:nvGrpSpPr>
        <p:grpSpPr>
          <a:xfrm>
            <a:off x="5517319" y="1315125"/>
            <a:ext cx="2647106" cy="669600"/>
            <a:chOff x="5517319" y="1315125"/>
            <a:chExt cx="2647106" cy="669600"/>
          </a:xfrm>
        </p:grpSpPr>
        <p:cxnSp>
          <p:nvCxnSpPr>
            <p:cNvPr id="158" name="Google Shape;158;p20"/>
            <p:cNvCxnSpPr/>
            <p:nvPr/>
          </p:nvCxnSpPr>
          <p:spPr>
            <a:xfrm flipH="1">
              <a:off x="5517319" y="1638300"/>
              <a:ext cx="433500" cy="252300"/>
            </a:xfrm>
            <a:prstGeom prst="straightConnector1">
              <a:avLst/>
            </a:prstGeom>
            <a:noFill/>
            <a:ln>
              <a:noFill/>
            </a:ln>
          </p:spPr>
        </p:cxnSp>
        <p:sp>
          <p:nvSpPr>
            <p:cNvPr id="159" name="Google Shape;159;p20"/>
            <p:cNvSpPr txBox="1"/>
            <p:nvPr/>
          </p:nvSpPr>
          <p:spPr>
            <a:xfrm>
              <a:off x="5962125" y="1315125"/>
              <a:ext cx="2202300" cy="66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fr" sz="2000">
                  <a:latin typeface="Old Standard TT"/>
                  <a:ea typeface="Old Standard TT"/>
                  <a:cs typeface="Old Standard TT"/>
                  <a:sym typeface="Old Standard TT"/>
                </a:rPr>
                <a:t>Normalisation</a:t>
              </a:r>
              <a:endParaRPr b="1" sz="2000">
                <a:latin typeface="Old Standard TT"/>
                <a:ea typeface="Old Standard TT"/>
                <a:cs typeface="Old Standard TT"/>
                <a:sym typeface="Old Standard TT"/>
              </a:endParaRPr>
            </a:p>
          </p:txBody>
        </p:sp>
      </p:grpSp>
      <p:grpSp>
        <p:nvGrpSpPr>
          <p:cNvPr id="160" name="Google Shape;160;p20"/>
          <p:cNvGrpSpPr/>
          <p:nvPr/>
        </p:nvGrpSpPr>
        <p:grpSpPr>
          <a:xfrm>
            <a:off x="3808226" y="3535140"/>
            <a:ext cx="1495200" cy="1143796"/>
            <a:chOff x="3808226" y="3535140"/>
            <a:chExt cx="1495200" cy="1143796"/>
          </a:xfrm>
        </p:grpSpPr>
        <p:cxnSp>
          <p:nvCxnSpPr>
            <p:cNvPr id="161" name="Google Shape;161;p20"/>
            <p:cNvCxnSpPr/>
            <p:nvPr/>
          </p:nvCxnSpPr>
          <p:spPr>
            <a:xfrm rot="10800000">
              <a:off x="4556399" y="3535140"/>
              <a:ext cx="0" cy="460500"/>
            </a:xfrm>
            <a:prstGeom prst="straightConnector1">
              <a:avLst/>
            </a:prstGeom>
            <a:noFill/>
            <a:ln cap="flat" cmpd="sng" w="19050">
              <a:solidFill>
                <a:srgbClr val="0E9453"/>
              </a:solidFill>
              <a:prstDash val="solid"/>
              <a:round/>
              <a:headEnd len="med" w="med" type="oval"/>
              <a:tailEnd len="sm" w="sm" type="none"/>
            </a:ln>
          </p:spPr>
        </p:cxnSp>
        <p:sp>
          <p:nvSpPr>
            <p:cNvPr id="162" name="Google Shape;162;p20"/>
            <p:cNvSpPr txBox="1"/>
            <p:nvPr/>
          </p:nvSpPr>
          <p:spPr>
            <a:xfrm>
              <a:off x="3808226" y="4009336"/>
              <a:ext cx="1495200" cy="66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fr" sz="2000">
                  <a:latin typeface="Old Standard TT"/>
                  <a:ea typeface="Old Standard TT"/>
                  <a:cs typeface="Old Standard TT"/>
                  <a:sym typeface="Old Standard TT"/>
                </a:rPr>
                <a:t>Label Conversion</a:t>
              </a:r>
              <a:endParaRPr b="1" sz="2000">
                <a:latin typeface="Old Standard TT"/>
                <a:ea typeface="Old Standard TT"/>
                <a:cs typeface="Old Standard TT"/>
                <a:sym typeface="Old Standard TT"/>
              </a:endParaRPr>
            </a:p>
          </p:txBody>
        </p:sp>
      </p:grpSp>
      <p:sp>
        <p:nvSpPr>
          <p:cNvPr id="163" name="Google Shape;163;p20"/>
          <p:cNvSpPr txBox="1"/>
          <p:nvPr/>
        </p:nvSpPr>
        <p:spPr>
          <a:xfrm>
            <a:off x="3845784" y="2056460"/>
            <a:ext cx="1443600" cy="804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fr" sz="1200">
                <a:latin typeface="Roboto"/>
                <a:ea typeface="Roboto"/>
                <a:cs typeface="Roboto"/>
                <a:sym typeface="Roboto"/>
              </a:rPr>
              <a:t>Basic Preprocessing</a:t>
            </a:r>
            <a:endParaRPr sz="1200"/>
          </a:p>
        </p:txBody>
      </p:sp>
      <p:sp>
        <p:nvSpPr>
          <p:cNvPr id="164" name="Google Shape;164;p20"/>
          <p:cNvSpPr/>
          <p:nvPr/>
        </p:nvSpPr>
        <p:spPr>
          <a:xfrm rot="1800047">
            <a:off x="3219843" y="1086434"/>
            <a:ext cx="2690936" cy="2690936"/>
          </a:xfrm>
          <a:prstGeom prst="blockArc">
            <a:avLst>
              <a:gd fmla="val 14414370" name="adj1"/>
              <a:gd fmla="val 694" name="adj2"/>
              <a:gd fmla="val 9562" name="adj3"/>
            </a:avLst>
          </a:prstGeom>
          <a:solidFill>
            <a:srgbClr val="085630"/>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0"/>
          <p:cNvSpPr/>
          <p:nvPr/>
        </p:nvSpPr>
        <p:spPr>
          <a:xfrm flipH="1" rot="-1800047">
            <a:off x="3221956" y="1086434"/>
            <a:ext cx="2690936" cy="2690936"/>
          </a:xfrm>
          <a:prstGeom prst="blockArc">
            <a:avLst>
              <a:gd fmla="val 14348563" name="adj1"/>
              <a:gd fmla="val 21472873" name="adj2"/>
              <a:gd fmla="val 9381" name="adj3"/>
            </a:avLst>
          </a:prstGeom>
          <a:solidFill>
            <a:schemeClr val="lt2"/>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0"/>
          <p:cNvSpPr/>
          <p:nvPr/>
        </p:nvSpPr>
        <p:spPr>
          <a:xfrm rot="-8100000">
            <a:off x="4382715" y="1027393"/>
            <a:ext cx="363170" cy="36317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0"/>
          <p:cNvSpPr/>
          <p:nvPr/>
        </p:nvSpPr>
        <p:spPr>
          <a:xfrm flipH="1" rot="-9000757">
            <a:off x="3220953" y="1084808"/>
            <a:ext cx="2690226" cy="2690226"/>
          </a:xfrm>
          <a:prstGeom prst="blockArc">
            <a:avLst>
              <a:gd fmla="val 14316164" name="adj1"/>
              <a:gd fmla="val 21502663" name="adj2"/>
              <a:gd fmla="val 9415" name="adj3"/>
            </a:avLst>
          </a:prstGeom>
          <a:solidFill>
            <a:srgbClr val="0E9453"/>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0"/>
          <p:cNvSpPr/>
          <p:nvPr/>
        </p:nvSpPr>
        <p:spPr>
          <a:xfrm rot="-1027861">
            <a:off x="5485874" y="2849832"/>
            <a:ext cx="312672" cy="312672"/>
          </a:xfrm>
          <a:prstGeom prst="rtTriangle">
            <a:avLst/>
          </a:prstGeom>
          <a:solidFill>
            <a:srgbClr val="0856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0"/>
          <p:cNvSpPr/>
          <p:nvPr/>
        </p:nvSpPr>
        <p:spPr>
          <a:xfrm rot="6359841">
            <a:off x="3315801" y="2847762"/>
            <a:ext cx="363580" cy="363580"/>
          </a:xfrm>
          <a:prstGeom prst="rtTriangl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fr"/>
              <a:t>Machine Learning Models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idx="1" type="body"/>
          </p:nvPr>
        </p:nvSpPr>
        <p:spPr>
          <a:xfrm>
            <a:off x="514250" y="1374250"/>
            <a:ext cx="2541900" cy="54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fr" sz="2200"/>
              <a:t>Custom CNN</a:t>
            </a:r>
            <a:endParaRPr sz="2200"/>
          </a:p>
          <a:p>
            <a:pPr indent="0" lvl="0" marL="0" marR="0" rtl="0" algn="l">
              <a:lnSpc>
                <a:spcPct val="115000"/>
              </a:lnSpc>
              <a:spcBef>
                <a:spcPts val="1600"/>
              </a:spcBef>
              <a:spcAft>
                <a:spcPts val="1600"/>
              </a:spcAft>
              <a:buNone/>
            </a:pPr>
            <a:r>
              <a:t/>
            </a:r>
            <a:endParaRPr sz="2200"/>
          </a:p>
        </p:txBody>
      </p:sp>
      <p:sp>
        <p:nvSpPr>
          <p:cNvPr id="180" name="Google Shape;180;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Model Selection: choosing the right architecture</a:t>
            </a:r>
            <a:endParaRPr b="1" sz="1100">
              <a:latin typeface="Arial"/>
              <a:ea typeface="Arial"/>
              <a:cs typeface="Arial"/>
              <a:sym typeface="Arial"/>
            </a:endParaRPr>
          </a:p>
          <a:p>
            <a:pPr indent="0" lvl="0" marL="0" rtl="0" algn="l">
              <a:spcBef>
                <a:spcPts val="0"/>
              </a:spcBef>
              <a:spcAft>
                <a:spcPts val="0"/>
              </a:spcAft>
              <a:buNone/>
            </a:pPr>
            <a:r>
              <a:t/>
            </a:r>
            <a:endParaRPr/>
          </a:p>
        </p:txBody>
      </p:sp>
      <p:sp>
        <p:nvSpPr>
          <p:cNvPr id="181" name="Google Shape;181;p22"/>
          <p:cNvSpPr txBox="1"/>
          <p:nvPr>
            <p:ph idx="1" type="body"/>
          </p:nvPr>
        </p:nvSpPr>
        <p:spPr>
          <a:xfrm>
            <a:off x="278725" y="2301600"/>
            <a:ext cx="2541900" cy="540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fr" sz="2000"/>
              <a:t>MobileNetV2</a:t>
            </a:r>
            <a:endParaRPr sz="2000"/>
          </a:p>
        </p:txBody>
      </p:sp>
      <p:sp>
        <p:nvSpPr>
          <p:cNvPr id="182" name="Google Shape;182;p22"/>
          <p:cNvSpPr txBox="1"/>
          <p:nvPr>
            <p:ph idx="1" type="body"/>
          </p:nvPr>
        </p:nvSpPr>
        <p:spPr>
          <a:xfrm>
            <a:off x="514250" y="3228950"/>
            <a:ext cx="2541900" cy="441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fr" sz="2000"/>
              <a:t>EfficientNetB0</a:t>
            </a:r>
            <a:endParaRPr sz="2000"/>
          </a:p>
        </p:txBody>
      </p:sp>
      <p:sp>
        <p:nvSpPr>
          <p:cNvPr id="183" name="Google Shape;183;p22"/>
          <p:cNvSpPr txBox="1"/>
          <p:nvPr/>
        </p:nvSpPr>
        <p:spPr>
          <a:xfrm>
            <a:off x="3632825" y="1449063"/>
            <a:ext cx="3000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2100">
                <a:solidFill>
                  <a:srgbClr val="1D7E75"/>
                </a:solidFill>
                <a:latin typeface="Old Standard TT"/>
                <a:ea typeface="Old Standard TT"/>
                <a:cs typeface="Old Standard TT"/>
                <a:sym typeface="Old Standard TT"/>
              </a:rPr>
              <a:t>Challenges</a:t>
            </a:r>
            <a:endParaRPr sz="2100">
              <a:latin typeface="Old Standard TT"/>
              <a:ea typeface="Old Standard TT"/>
              <a:cs typeface="Old Standard TT"/>
              <a:sym typeface="Old Standard TT"/>
            </a:endParaRPr>
          </a:p>
        </p:txBody>
      </p:sp>
      <p:cxnSp>
        <p:nvCxnSpPr>
          <p:cNvPr id="184" name="Google Shape;184;p22"/>
          <p:cNvCxnSpPr/>
          <p:nvPr/>
        </p:nvCxnSpPr>
        <p:spPr>
          <a:xfrm>
            <a:off x="6866800" y="4427050"/>
            <a:ext cx="1109700" cy="0"/>
          </a:xfrm>
          <a:prstGeom prst="straightConnector1">
            <a:avLst/>
          </a:prstGeom>
          <a:noFill/>
          <a:ln cap="flat" cmpd="sng" w="76200">
            <a:solidFill>
              <a:schemeClr val="dk2"/>
            </a:solidFill>
            <a:prstDash val="solid"/>
            <a:round/>
            <a:headEnd len="med" w="med" type="none"/>
            <a:tailEnd len="med" w="med" type="triangle"/>
          </a:ln>
        </p:spPr>
      </p:cxnSp>
      <p:sp>
        <p:nvSpPr>
          <p:cNvPr id="185" name="Google Shape;185;p22"/>
          <p:cNvSpPr txBox="1"/>
          <p:nvPr/>
        </p:nvSpPr>
        <p:spPr>
          <a:xfrm>
            <a:off x="4338925" y="1917638"/>
            <a:ext cx="3373200" cy="1650000"/>
          </a:xfrm>
          <a:prstGeom prst="rect">
            <a:avLst/>
          </a:prstGeom>
          <a:noFill/>
          <a:ln>
            <a:noFill/>
          </a:ln>
        </p:spPr>
        <p:txBody>
          <a:bodyPr anchorCtr="0" anchor="t" bIns="91425" lIns="91425" spcFirstLastPara="1" rIns="91425" wrap="square" tIns="91425">
            <a:spAutoFit/>
          </a:bodyPr>
          <a:lstStyle/>
          <a:p>
            <a:pPr indent="-203200" lvl="0" marL="360000" marR="0" rtl="0" algn="l">
              <a:lnSpc>
                <a:spcPct val="115000"/>
              </a:lnSpc>
              <a:spcBef>
                <a:spcPts val="1200"/>
              </a:spcBef>
              <a:spcAft>
                <a:spcPts val="0"/>
              </a:spcAft>
              <a:buClr>
                <a:schemeClr val="dk1"/>
              </a:buClr>
              <a:buSzPts val="1700"/>
              <a:buFont typeface="Old Standard TT"/>
              <a:buChar char="➔"/>
            </a:pPr>
            <a:r>
              <a:rPr lang="fr" sz="1700">
                <a:solidFill>
                  <a:schemeClr val="dk1"/>
                </a:solidFill>
                <a:latin typeface="Old Standard TT"/>
                <a:ea typeface="Old Standard TT"/>
                <a:cs typeface="Old Standard TT"/>
                <a:sym typeface="Old Standard TT"/>
              </a:rPr>
              <a:t>im</a:t>
            </a:r>
            <a:r>
              <a:rPr lang="fr" sz="1700">
                <a:solidFill>
                  <a:schemeClr val="dk1"/>
                </a:solidFill>
                <a:latin typeface="Old Standard TT"/>
                <a:ea typeface="Old Standard TT"/>
                <a:cs typeface="Old Standard TT"/>
                <a:sym typeface="Old Standard TT"/>
              </a:rPr>
              <a:t>balanced dataset</a:t>
            </a:r>
            <a:endParaRPr sz="1700">
              <a:solidFill>
                <a:schemeClr val="dk1"/>
              </a:solidFill>
              <a:latin typeface="Old Standard TT"/>
              <a:ea typeface="Old Standard TT"/>
              <a:cs typeface="Old Standard TT"/>
              <a:sym typeface="Old Standard TT"/>
            </a:endParaRPr>
          </a:p>
          <a:p>
            <a:pPr indent="-203200" lvl="0" marL="360000" marR="0" rtl="0" algn="l">
              <a:lnSpc>
                <a:spcPct val="115000"/>
              </a:lnSpc>
              <a:spcBef>
                <a:spcPts val="0"/>
              </a:spcBef>
              <a:spcAft>
                <a:spcPts val="0"/>
              </a:spcAft>
              <a:buClr>
                <a:schemeClr val="dk1"/>
              </a:buClr>
              <a:buSzPts val="1700"/>
              <a:buFont typeface="Old Standard TT"/>
              <a:buChar char="➔"/>
            </a:pPr>
            <a:r>
              <a:rPr lang="fr" sz="1700">
                <a:solidFill>
                  <a:schemeClr val="dk1"/>
                </a:solidFill>
                <a:latin typeface="Old Standard TT"/>
                <a:ea typeface="Old Standard TT"/>
                <a:cs typeface="Old Standard TT"/>
                <a:sym typeface="Old Standard TT"/>
              </a:rPr>
              <a:t>limited diversity</a:t>
            </a:r>
            <a:endParaRPr sz="1700">
              <a:solidFill>
                <a:schemeClr val="dk1"/>
              </a:solidFill>
              <a:latin typeface="Old Standard TT"/>
              <a:ea typeface="Old Standard TT"/>
              <a:cs typeface="Old Standard TT"/>
              <a:sym typeface="Old Standard TT"/>
            </a:endParaRPr>
          </a:p>
          <a:p>
            <a:pPr indent="-203200" lvl="0" marL="360000" marR="0" rtl="0" algn="l">
              <a:lnSpc>
                <a:spcPct val="115000"/>
              </a:lnSpc>
              <a:spcBef>
                <a:spcPts val="0"/>
              </a:spcBef>
              <a:spcAft>
                <a:spcPts val="0"/>
              </a:spcAft>
              <a:buClr>
                <a:schemeClr val="dk1"/>
              </a:buClr>
              <a:buSzPts val="1700"/>
              <a:buFont typeface="Old Standard TT"/>
              <a:buChar char="➔"/>
            </a:pPr>
            <a:r>
              <a:rPr lang="fr" sz="1700">
                <a:solidFill>
                  <a:schemeClr val="dk1"/>
                </a:solidFill>
                <a:latin typeface="Old Standard TT"/>
                <a:ea typeface="Old Standard TT"/>
                <a:cs typeface="Old Standard TT"/>
                <a:sym typeface="Old Standard TT"/>
              </a:rPr>
              <a:t>black borders in images</a:t>
            </a:r>
            <a:endParaRPr sz="1700">
              <a:solidFill>
                <a:schemeClr val="dk1"/>
              </a:solidFill>
              <a:latin typeface="Old Standard TT"/>
              <a:ea typeface="Old Standard TT"/>
              <a:cs typeface="Old Standard TT"/>
              <a:sym typeface="Old Standard TT"/>
            </a:endParaRPr>
          </a:p>
          <a:p>
            <a:pPr indent="-203200" lvl="0" marL="360000" marR="0" rtl="0" algn="l">
              <a:lnSpc>
                <a:spcPct val="115000"/>
              </a:lnSpc>
              <a:spcBef>
                <a:spcPts val="0"/>
              </a:spcBef>
              <a:spcAft>
                <a:spcPts val="0"/>
              </a:spcAft>
              <a:buClr>
                <a:schemeClr val="dk1"/>
              </a:buClr>
              <a:buSzPts val="1700"/>
              <a:buFont typeface="Old Standard TT"/>
              <a:buChar char="➔"/>
            </a:pPr>
            <a:r>
              <a:rPr lang="fr" sz="1700">
                <a:solidFill>
                  <a:schemeClr val="dk1"/>
                </a:solidFill>
                <a:latin typeface="Old Standard TT"/>
                <a:ea typeface="Old Standard TT"/>
                <a:cs typeface="Old Standard TT"/>
                <a:sym typeface="Old Standard TT"/>
              </a:rPr>
              <a:t>overfitting</a:t>
            </a:r>
            <a:endParaRPr sz="1700">
              <a:solidFill>
                <a:schemeClr val="dk1"/>
              </a:solidFill>
              <a:latin typeface="Old Standard TT"/>
              <a:ea typeface="Old Standard TT"/>
              <a:cs typeface="Old Standard TT"/>
              <a:sym typeface="Old Standard TT"/>
            </a:endParaRPr>
          </a:p>
          <a:p>
            <a:pPr indent="-203200" lvl="0" marL="360000" marR="0" rtl="0" algn="l">
              <a:lnSpc>
                <a:spcPct val="115000"/>
              </a:lnSpc>
              <a:spcBef>
                <a:spcPts val="0"/>
              </a:spcBef>
              <a:spcAft>
                <a:spcPts val="0"/>
              </a:spcAft>
              <a:buClr>
                <a:schemeClr val="dk1"/>
              </a:buClr>
              <a:buSzPts val="1700"/>
              <a:buFont typeface="Old Standard TT"/>
              <a:buChar char="➔"/>
            </a:pPr>
            <a:r>
              <a:rPr lang="fr" sz="1700">
                <a:solidFill>
                  <a:schemeClr val="dk1"/>
                </a:solidFill>
                <a:latin typeface="Old Standard TT"/>
                <a:ea typeface="Old Standard TT"/>
                <a:cs typeface="Old Standard TT"/>
                <a:sym typeface="Old Standard TT"/>
              </a:rPr>
              <a:t>poor generalization.</a:t>
            </a:r>
            <a:endParaRPr sz="1700">
              <a:latin typeface="Old Standard TT"/>
              <a:ea typeface="Old Standard TT"/>
              <a:cs typeface="Old Standard TT"/>
              <a:sym typeface="Old Standard TT"/>
            </a:endParaRPr>
          </a:p>
        </p:txBody>
      </p:sp>
      <p:cxnSp>
        <p:nvCxnSpPr>
          <p:cNvPr id="186" name="Google Shape;186;p22"/>
          <p:cNvCxnSpPr>
            <a:stCxn id="181" idx="3"/>
            <a:endCxn id="185" idx="1"/>
          </p:cNvCxnSpPr>
          <p:nvPr/>
        </p:nvCxnSpPr>
        <p:spPr>
          <a:xfrm>
            <a:off x="2820625" y="2571750"/>
            <a:ext cx="1518300" cy="171000"/>
          </a:xfrm>
          <a:prstGeom prst="curvedConnector3">
            <a:avLst>
              <a:gd fmla="val 50000" name="adj1"/>
            </a:avLst>
          </a:prstGeom>
          <a:noFill/>
          <a:ln cap="flat" cmpd="sng" w="76200">
            <a:solidFill>
              <a:schemeClr val="dk2"/>
            </a:solidFill>
            <a:prstDash val="solid"/>
            <a:round/>
            <a:headEnd len="med" w="med" type="none"/>
            <a:tailEnd len="med" w="med" type="triangle"/>
          </a:ln>
        </p:spPr>
      </p:cxnSp>
      <p:cxnSp>
        <p:nvCxnSpPr>
          <p:cNvPr id="187" name="Google Shape;187;p22"/>
          <p:cNvCxnSpPr/>
          <p:nvPr/>
        </p:nvCxnSpPr>
        <p:spPr>
          <a:xfrm>
            <a:off x="2666725" y="1671450"/>
            <a:ext cx="1609800" cy="637800"/>
          </a:xfrm>
          <a:prstGeom prst="curvedConnector3">
            <a:avLst>
              <a:gd fmla="val 50000" name="adj1"/>
            </a:avLst>
          </a:prstGeom>
          <a:noFill/>
          <a:ln cap="flat" cmpd="sng" w="76200">
            <a:solidFill>
              <a:schemeClr val="dk2"/>
            </a:solidFill>
            <a:prstDash val="solid"/>
            <a:round/>
            <a:headEnd len="med" w="med" type="none"/>
            <a:tailEnd len="med" w="med" type="triangle"/>
          </a:ln>
        </p:spPr>
      </p:cxnSp>
      <p:cxnSp>
        <p:nvCxnSpPr>
          <p:cNvPr id="188" name="Google Shape;188;p22"/>
          <p:cNvCxnSpPr/>
          <p:nvPr/>
        </p:nvCxnSpPr>
        <p:spPr>
          <a:xfrm flipH="1" rot="10800000">
            <a:off x="2735100" y="3176150"/>
            <a:ext cx="1483200" cy="333900"/>
          </a:xfrm>
          <a:prstGeom prst="curvedConnector3">
            <a:avLst>
              <a:gd fmla="val 50000" name="adj1"/>
            </a:avLst>
          </a:prstGeom>
          <a:noFill/>
          <a:ln cap="flat" cmpd="sng" w="76200">
            <a:solidFill>
              <a:schemeClr val="dk2"/>
            </a:solidFill>
            <a:prstDash val="solid"/>
            <a:round/>
            <a:headEnd len="med" w="med" type="none"/>
            <a:tailEnd len="med" w="med" type="triangle"/>
          </a:ln>
        </p:spPr>
      </p:cxnSp>
      <p:sp>
        <p:nvSpPr>
          <p:cNvPr id="189" name="Google Shape;189;p22"/>
          <p:cNvSpPr txBox="1"/>
          <p:nvPr/>
        </p:nvSpPr>
        <p:spPr>
          <a:xfrm>
            <a:off x="3551650" y="4057600"/>
            <a:ext cx="3000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3600">
                <a:solidFill>
                  <a:srgbClr val="1D7E75"/>
                </a:solidFill>
                <a:latin typeface="Old Standard TT"/>
                <a:ea typeface="Old Standard TT"/>
                <a:cs typeface="Old Standard TT"/>
                <a:sym typeface="Old Standard TT"/>
              </a:rPr>
              <a:t>Tracking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311713" y="1107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Model Selection: MLflow tracking</a:t>
            </a:r>
            <a:endParaRPr b="1" sz="1100">
              <a:solidFill>
                <a:srgbClr val="000000"/>
              </a:solidFill>
              <a:latin typeface="Arial"/>
              <a:ea typeface="Arial"/>
              <a:cs typeface="Arial"/>
              <a:sym typeface="Arial"/>
            </a:endParaRPr>
          </a:p>
          <a:p>
            <a:pPr indent="0" lvl="0" marL="0" rtl="0" algn="l">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195" name="Google Shape;195;p23"/>
          <p:cNvSpPr txBox="1"/>
          <p:nvPr/>
        </p:nvSpPr>
        <p:spPr>
          <a:xfrm>
            <a:off x="3787175" y="4086625"/>
            <a:ext cx="3000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3600">
                <a:solidFill>
                  <a:srgbClr val="1D7E75"/>
                </a:solidFill>
                <a:latin typeface="Old Standard TT"/>
                <a:ea typeface="Old Standard TT"/>
                <a:cs typeface="Old Standard TT"/>
                <a:sym typeface="Old Standard TT"/>
              </a:rPr>
              <a:t>Results</a:t>
            </a:r>
            <a:endParaRPr/>
          </a:p>
        </p:txBody>
      </p:sp>
      <p:cxnSp>
        <p:nvCxnSpPr>
          <p:cNvPr id="196" name="Google Shape;196;p23"/>
          <p:cNvCxnSpPr/>
          <p:nvPr/>
        </p:nvCxnSpPr>
        <p:spPr>
          <a:xfrm>
            <a:off x="7132725" y="4536125"/>
            <a:ext cx="1109700" cy="0"/>
          </a:xfrm>
          <a:prstGeom prst="straightConnector1">
            <a:avLst/>
          </a:prstGeom>
          <a:noFill/>
          <a:ln cap="flat" cmpd="sng" w="76200">
            <a:solidFill>
              <a:schemeClr val="dk2"/>
            </a:solidFill>
            <a:prstDash val="solid"/>
            <a:round/>
            <a:headEnd len="med" w="med" type="none"/>
            <a:tailEnd len="med" w="med" type="triangle"/>
          </a:ln>
        </p:spPr>
      </p:cxnSp>
      <p:pic>
        <p:nvPicPr>
          <p:cNvPr id="197" name="Google Shape;197;p23">
            <a:hlinkClick r:id="rId3"/>
          </p:cNvPr>
          <p:cNvPicPr preferRelativeResize="0"/>
          <p:nvPr/>
        </p:nvPicPr>
        <p:blipFill>
          <a:blip r:embed="rId4">
            <a:alphaModFix/>
          </a:blip>
          <a:stretch>
            <a:fillRect/>
          </a:stretch>
        </p:blipFill>
        <p:spPr>
          <a:xfrm>
            <a:off x="152425" y="1092763"/>
            <a:ext cx="8839198" cy="262503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311713" y="1107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Machine Learning Models Comparison</a:t>
            </a:r>
            <a:endParaRPr/>
          </a:p>
        </p:txBody>
      </p:sp>
      <p:graphicFrame>
        <p:nvGraphicFramePr>
          <p:cNvPr id="203" name="Google Shape;203;p24"/>
          <p:cNvGraphicFramePr/>
          <p:nvPr/>
        </p:nvGraphicFramePr>
        <p:xfrm>
          <a:off x="50" y="915450"/>
          <a:ext cx="3000000" cy="3000000"/>
        </p:xfrm>
        <a:graphic>
          <a:graphicData uri="http://schemas.openxmlformats.org/drawingml/2006/table">
            <a:tbl>
              <a:tblPr>
                <a:noFill/>
                <a:tableStyleId>{EFD4631D-64B9-4C4D-B07C-D77B28E18D1B}</a:tableStyleId>
              </a:tblPr>
              <a:tblGrid>
                <a:gridCol w="1546100"/>
                <a:gridCol w="1519575"/>
                <a:gridCol w="1519575"/>
                <a:gridCol w="1519575"/>
                <a:gridCol w="1519575"/>
                <a:gridCol w="1519575"/>
              </a:tblGrid>
              <a:tr h="682975">
                <a:tc>
                  <a:txBody>
                    <a:bodyPr/>
                    <a:lstStyle/>
                    <a:p>
                      <a:pPr indent="0" lvl="0" marL="0" marR="0" rtl="0" algn="l">
                        <a:lnSpc>
                          <a:spcPct val="100000"/>
                        </a:lnSpc>
                        <a:spcBef>
                          <a:spcPts val="0"/>
                        </a:spcBef>
                        <a:spcAft>
                          <a:spcPts val="0"/>
                        </a:spcAft>
                        <a:buNone/>
                      </a:pPr>
                      <a:r>
                        <a:t/>
                      </a:r>
                      <a:endParaRPr b="1"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fr" sz="1800">
                          <a:solidFill>
                            <a:srgbClr val="1D7E75"/>
                          </a:solidFill>
                          <a:latin typeface="Old Standard TT"/>
                          <a:ea typeface="Old Standard TT"/>
                          <a:cs typeface="Old Standard TT"/>
                          <a:sym typeface="Old Standard TT"/>
                        </a:rPr>
                        <a:t>F1-score</a:t>
                      </a:r>
                      <a:endParaRPr b="1"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fr" sz="1800">
                          <a:solidFill>
                            <a:srgbClr val="1D7E75"/>
                          </a:solidFill>
                          <a:latin typeface="Old Standard TT"/>
                          <a:ea typeface="Old Standard TT"/>
                          <a:cs typeface="Old Standard TT"/>
                          <a:sym typeface="Old Standard TT"/>
                        </a:rPr>
                        <a:t>AUC-ROC </a:t>
                      </a:r>
                      <a:endParaRPr b="1"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fr" sz="1800">
                          <a:solidFill>
                            <a:srgbClr val="1D7E75"/>
                          </a:solidFill>
                          <a:latin typeface="Old Standard TT"/>
                          <a:ea typeface="Old Standard TT"/>
                          <a:cs typeface="Old Standard TT"/>
                          <a:sym typeface="Old Standard TT"/>
                        </a:rPr>
                        <a:t>Recall</a:t>
                      </a:r>
                      <a:endParaRPr b="1"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fr" sz="1800">
                          <a:solidFill>
                            <a:srgbClr val="1D7E75"/>
                          </a:solidFill>
                          <a:latin typeface="Old Standard TT"/>
                          <a:ea typeface="Old Standard TT"/>
                          <a:cs typeface="Old Standard TT"/>
                          <a:sym typeface="Old Standard TT"/>
                        </a:rPr>
                        <a:t>Precision</a:t>
                      </a:r>
                      <a:endParaRPr b="1"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fr" sz="1800">
                          <a:solidFill>
                            <a:srgbClr val="1D7E75"/>
                          </a:solidFill>
                          <a:latin typeface="Old Standard TT"/>
                          <a:ea typeface="Old Standard TT"/>
                          <a:cs typeface="Old Standard TT"/>
                          <a:sym typeface="Old Standard TT"/>
                        </a:rPr>
                        <a:t>Accuracy</a:t>
                      </a:r>
                      <a:endParaRPr b="1"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r>
              <a:tr h="1092775">
                <a:tc>
                  <a:txBody>
                    <a:bodyPr/>
                    <a:lstStyle/>
                    <a:p>
                      <a:pPr indent="0" lvl="0" marL="0" marR="0" rtl="0" algn="l">
                        <a:lnSpc>
                          <a:spcPct val="100000"/>
                        </a:lnSpc>
                        <a:spcBef>
                          <a:spcPts val="0"/>
                        </a:spcBef>
                        <a:spcAft>
                          <a:spcPts val="0"/>
                        </a:spcAft>
                        <a:buNone/>
                      </a:pPr>
                      <a:r>
                        <a:rPr b="1" lang="fr" sz="1600">
                          <a:solidFill>
                            <a:srgbClr val="1D7E75"/>
                          </a:solidFill>
                          <a:latin typeface="Old Standard TT"/>
                          <a:ea typeface="Old Standard TT"/>
                          <a:cs typeface="Old Standard TT"/>
                          <a:sym typeface="Old Standard TT"/>
                        </a:rPr>
                        <a:t>Custom CNN</a:t>
                      </a:r>
                      <a:endParaRPr b="1" sz="16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rtl="0" algn="l">
                        <a:lnSpc>
                          <a:spcPct val="115000"/>
                        </a:lnSpc>
                        <a:spcBef>
                          <a:spcPts val="0"/>
                        </a:spcBef>
                        <a:spcAft>
                          <a:spcPts val="1600"/>
                        </a:spcAft>
                        <a:buClr>
                          <a:schemeClr val="dk1"/>
                        </a:buClr>
                        <a:buSzPts val="1100"/>
                        <a:buFont typeface="Arial"/>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r>
              <a:tr h="1092775">
                <a:tc>
                  <a:txBody>
                    <a:bodyPr/>
                    <a:lstStyle/>
                    <a:p>
                      <a:pPr indent="0" lvl="0" marL="0" marR="0" rtl="0" algn="l">
                        <a:lnSpc>
                          <a:spcPct val="100000"/>
                        </a:lnSpc>
                        <a:spcBef>
                          <a:spcPts val="0"/>
                        </a:spcBef>
                        <a:spcAft>
                          <a:spcPts val="0"/>
                        </a:spcAft>
                        <a:buNone/>
                      </a:pPr>
                      <a:r>
                        <a:rPr b="1" lang="fr" sz="1600">
                          <a:solidFill>
                            <a:srgbClr val="1D7E75"/>
                          </a:solidFill>
                          <a:latin typeface="Old Standard TT"/>
                          <a:ea typeface="Old Standard TT"/>
                          <a:cs typeface="Old Standard TT"/>
                          <a:sym typeface="Old Standard TT"/>
                        </a:rPr>
                        <a:t>MobileNetV2</a:t>
                      </a:r>
                      <a:endParaRPr b="1" sz="16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r>
              <a:tr h="1092775">
                <a:tc>
                  <a:txBody>
                    <a:bodyPr/>
                    <a:lstStyle/>
                    <a:p>
                      <a:pPr indent="0" lvl="0" marL="0" marR="0" rtl="0" algn="l">
                        <a:lnSpc>
                          <a:spcPct val="100000"/>
                        </a:lnSpc>
                        <a:spcBef>
                          <a:spcPts val="0"/>
                        </a:spcBef>
                        <a:spcAft>
                          <a:spcPts val="0"/>
                        </a:spcAft>
                        <a:buNone/>
                      </a:pPr>
                      <a:r>
                        <a:rPr b="1" lang="fr" sz="1600">
                          <a:solidFill>
                            <a:srgbClr val="1D7E75"/>
                          </a:solidFill>
                          <a:latin typeface="Old Standard TT"/>
                          <a:ea typeface="Old Standard TT"/>
                          <a:cs typeface="Old Standard TT"/>
                          <a:sym typeface="Old Standard TT"/>
                        </a:rPr>
                        <a:t>EfficientNetB0</a:t>
                      </a:r>
                      <a:endParaRPr b="1" sz="1600">
                        <a:solidFill>
                          <a:srgbClr val="1D7E75"/>
                        </a:solidFill>
                        <a:latin typeface="Old Standard TT"/>
                        <a:ea typeface="Old Standard TT"/>
                        <a:cs typeface="Old Standard TT"/>
                        <a:sym typeface="Old Standard TT"/>
                      </a:endParaRPr>
                    </a:p>
                    <a:p>
                      <a:pPr indent="0" lvl="0" marL="0" marR="0" rtl="0" algn="l">
                        <a:lnSpc>
                          <a:spcPct val="100000"/>
                        </a:lnSpc>
                        <a:spcBef>
                          <a:spcPts val="0"/>
                        </a:spcBef>
                        <a:spcAft>
                          <a:spcPts val="0"/>
                        </a:spcAft>
                        <a:buNone/>
                      </a:pPr>
                      <a:r>
                        <a:t/>
                      </a:r>
                      <a:endParaRPr b="1" sz="16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a:solidFill>
                          <a:srgbClr val="1D7E75"/>
                        </a:solidFill>
                        <a:latin typeface="Old Standard TT"/>
                        <a:ea typeface="Old Standard TT"/>
                        <a:cs typeface="Old Standard TT"/>
                        <a:sym typeface="Old Standard TT"/>
                      </a:endParaRPr>
                    </a:p>
                  </a:txBody>
                  <a:tcPr marT="91425" marB="91425" marR="91425" marL="91425" anchor="ctr">
                    <a:lnL cap="flat" cmpd="sng" w="9525">
                      <a:solidFill>
                        <a:srgbClr val="1D7E75"/>
                      </a:solidFill>
                      <a:prstDash val="solid"/>
                      <a:round/>
                      <a:headEnd len="sm" w="sm" type="none"/>
                      <a:tailEnd len="sm" w="sm" type="none"/>
                    </a:lnL>
                    <a:lnR cap="flat" cmpd="sng" w="9525">
                      <a:solidFill>
                        <a:srgbClr val="1D7E75"/>
                      </a:solidFill>
                      <a:prstDash val="solid"/>
                      <a:round/>
                      <a:headEnd len="sm" w="sm" type="none"/>
                      <a:tailEnd len="sm" w="sm" type="none"/>
                    </a:lnR>
                    <a:lnT cap="flat" cmpd="sng" w="9525">
                      <a:solidFill>
                        <a:srgbClr val="1D7E75"/>
                      </a:solidFill>
                      <a:prstDash val="solid"/>
                      <a:round/>
                      <a:headEnd len="sm" w="sm" type="none"/>
                      <a:tailEnd len="sm" w="sm" type="none"/>
                    </a:lnT>
                    <a:lnB cap="flat" cmpd="sng" w="9525">
                      <a:solidFill>
                        <a:srgbClr val="1D7E75"/>
                      </a:solidFill>
                      <a:prstDash val="solid"/>
                      <a:round/>
                      <a:headEnd len="sm" w="sm" type="none"/>
                      <a:tailEnd len="sm" w="sm" type="none"/>
                    </a:lnB>
                  </a:tcPr>
                </a:tc>
              </a:tr>
            </a:tbl>
          </a:graphicData>
        </a:graphic>
      </p:graphicFrame>
      <p:sp>
        <p:nvSpPr>
          <p:cNvPr id="204" name="Google Shape;204;p24"/>
          <p:cNvSpPr/>
          <p:nvPr/>
        </p:nvSpPr>
        <p:spPr>
          <a:xfrm>
            <a:off x="-34700" y="2691025"/>
            <a:ext cx="9178800" cy="1044000"/>
          </a:xfrm>
          <a:prstGeom prst="roundRect">
            <a:avLst>
              <a:gd fmla="val 16667" name="adj"/>
            </a:avLst>
          </a:prstGeom>
          <a:noFill/>
          <a:ln cap="flat" cmpd="sng" w="76200">
            <a:solidFill>
              <a:schemeClr val="dk2"/>
            </a:solidFill>
            <a:prstDash val="solid"/>
            <a:round/>
            <a:headEnd len="sm" w="sm" type="none"/>
            <a:tailEnd len="sm" w="sm" type="none"/>
          </a:ln>
          <a:effectLst>
            <a:outerShdw blurRad="42863" rotWithShape="0" algn="bl" dir="5400000" dist="19050">
              <a:srgbClr val="000000">
                <a:alpha val="27000"/>
              </a:srgbClr>
            </a:outerShdw>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205" name="Google Shape;205;p24"/>
          <p:cNvSpPr/>
          <p:nvPr/>
        </p:nvSpPr>
        <p:spPr>
          <a:xfrm>
            <a:off x="1546150" y="1598425"/>
            <a:ext cx="1535400" cy="10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2100">
                <a:solidFill>
                  <a:schemeClr val="dk1"/>
                </a:solidFill>
                <a:latin typeface="Old Standard TT"/>
                <a:ea typeface="Old Standard TT"/>
                <a:cs typeface="Old Standard TT"/>
                <a:sym typeface="Old Standard TT"/>
              </a:rPr>
              <a:t>0.</a:t>
            </a:r>
            <a:r>
              <a:rPr lang="fr" sz="2100">
                <a:solidFill>
                  <a:schemeClr val="dk1"/>
                </a:solidFill>
                <a:latin typeface="Old Standard TT"/>
                <a:ea typeface="Old Standard TT"/>
                <a:cs typeface="Old Standard TT"/>
                <a:sym typeface="Old Standard TT"/>
              </a:rPr>
              <a:t>48</a:t>
            </a:r>
            <a:endParaRPr sz="2100">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lang="fr" sz="1600">
                <a:solidFill>
                  <a:schemeClr val="dk1"/>
                </a:solidFill>
                <a:latin typeface="Old Standard TT"/>
                <a:ea typeface="Old Standard TT"/>
                <a:cs typeface="Old Standard TT"/>
                <a:sym typeface="Old Standard TT"/>
              </a:rPr>
              <a:t>-</a:t>
            </a:r>
            <a:endParaRPr sz="1600">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lang="fr" sz="2100">
                <a:solidFill>
                  <a:schemeClr val="dk1"/>
                </a:solidFill>
                <a:latin typeface="Old Standard TT"/>
                <a:ea typeface="Old Standard TT"/>
                <a:cs typeface="Old Standard TT"/>
                <a:sym typeface="Old Standard TT"/>
              </a:rPr>
              <a:t>0.3</a:t>
            </a:r>
            <a:r>
              <a:rPr lang="fr" sz="2100">
                <a:solidFill>
                  <a:schemeClr val="dk1"/>
                </a:solidFill>
                <a:latin typeface="Old Standard TT"/>
                <a:ea typeface="Old Standard TT"/>
                <a:cs typeface="Old Standard TT"/>
                <a:sym typeface="Old Standard TT"/>
              </a:rPr>
              <a:t>8</a:t>
            </a:r>
            <a:endParaRPr sz="2100">
              <a:solidFill>
                <a:schemeClr val="dk1"/>
              </a:solidFill>
              <a:latin typeface="Old Standard TT"/>
              <a:ea typeface="Old Standard TT"/>
              <a:cs typeface="Old Standard TT"/>
              <a:sym typeface="Old Standard TT"/>
            </a:endParaRPr>
          </a:p>
        </p:txBody>
      </p:sp>
      <p:sp>
        <p:nvSpPr>
          <p:cNvPr id="206" name="Google Shape;206;p24"/>
          <p:cNvSpPr/>
          <p:nvPr/>
        </p:nvSpPr>
        <p:spPr>
          <a:xfrm>
            <a:off x="7031275" y="135025"/>
            <a:ext cx="2100000" cy="32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700">
                <a:solidFill>
                  <a:schemeClr val="dk1"/>
                </a:solidFill>
                <a:latin typeface="Old Standard TT"/>
                <a:ea typeface="Old Standard TT"/>
                <a:cs typeface="Old Standard TT"/>
                <a:sym typeface="Old Standard TT"/>
              </a:rPr>
              <a:t>Train - </a:t>
            </a:r>
            <a:endParaRPr b="1" sz="1700">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b="1" lang="fr" sz="1700">
                <a:solidFill>
                  <a:schemeClr val="dk1"/>
                </a:solidFill>
                <a:latin typeface="Old Standard TT"/>
                <a:ea typeface="Old Standard TT"/>
                <a:cs typeface="Old Standard TT"/>
                <a:sym typeface="Old Standard TT"/>
              </a:rPr>
              <a:t>Validation</a:t>
            </a:r>
            <a:endParaRPr sz="1700">
              <a:solidFill>
                <a:schemeClr val="dk1"/>
              </a:solidFill>
              <a:latin typeface="Old Standard TT"/>
              <a:ea typeface="Old Standard TT"/>
              <a:cs typeface="Old Standard TT"/>
              <a:sym typeface="Old Standard TT"/>
            </a:endParaRPr>
          </a:p>
        </p:txBody>
      </p:sp>
      <p:sp>
        <p:nvSpPr>
          <p:cNvPr id="207" name="Google Shape;207;p24"/>
          <p:cNvSpPr/>
          <p:nvPr/>
        </p:nvSpPr>
        <p:spPr>
          <a:xfrm>
            <a:off x="3081425" y="1598425"/>
            <a:ext cx="1491000" cy="10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2100">
                <a:solidFill>
                  <a:schemeClr val="dk1"/>
                </a:solidFill>
                <a:latin typeface="Old Standard TT"/>
                <a:ea typeface="Old Standard TT"/>
                <a:cs typeface="Old Standard TT"/>
                <a:sym typeface="Old Standard TT"/>
              </a:rPr>
              <a:t>0.61</a:t>
            </a:r>
            <a:endParaRPr sz="2100">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lang="fr" sz="1600">
                <a:solidFill>
                  <a:schemeClr val="dk1"/>
                </a:solidFill>
                <a:latin typeface="Old Standard TT"/>
                <a:ea typeface="Old Standard TT"/>
                <a:cs typeface="Old Standard TT"/>
                <a:sym typeface="Old Standard TT"/>
              </a:rPr>
              <a:t>-</a:t>
            </a:r>
            <a:endParaRPr sz="1600">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lang="fr" sz="2100">
                <a:solidFill>
                  <a:schemeClr val="dk1"/>
                </a:solidFill>
                <a:latin typeface="Old Standard TT"/>
                <a:ea typeface="Old Standard TT"/>
                <a:cs typeface="Old Standard TT"/>
                <a:sym typeface="Old Standard TT"/>
              </a:rPr>
              <a:t>0.47</a:t>
            </a:r>
            <a:endParaRPr sz="2100">
              <a:solidFill>
                <a:schemeClr val="dk1"/>
              </a:solidFill>
              <a:latin typeface="Old Standard TT"/>
              <a:ea typeface="Old Standard TT"/>
              <a:cs typeface="Old Standard TT"/>
              <a:sym typeface="Old Standard TT"/>
            </a:endParaRPr>
          </a:p>
        </p:txBody>
      </p:sp>
      <p:sp>
        <p:nvSpPr>
          <p:cNvPr id="208" name="Google Shape;208;p24"/>
          <p:cNvSpPr/>
          <p:nvPr/>
        </p:nvSpPr>
        <p:spPr>
          <a:xfrm>
            <a:off x="4572425" y="1598425"/>
            <a:ext cx="1535400" cy="10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fr" sz="2100">
                <a:solidFill>
                  <a:schemeClr val="dk1"/>
                </a:solidFill>
                <a:latin typeface="Old Standard TT"/>
                <a:ea typeface="Old Standard TT"/>
                <a:cs typeface="Old Standard TT"/>
                <a:sym typeface="Old Standard TT"/>
              </a:rPr>
              <a:t>0.61</a:t>
            </a:r>
            <a:endParaRPr sz="2100">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lang="fr" sz="1600">
                <a:solidFill>
                  <a:schemeClr val="dk1"/>
                </a:solidFill>
                <a:latin typeface="Old Standard TT"/>
                <a:ea typeface="Old Standard TT"/>
                <a:cs typeface="Old Standard TT"/>
                <a:sym typeface="Old Standard TT"/>
              </a:rPr>
              <a:t>-</a:t>
            </a:r>
            <a:endParaRPr sz="1600">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lang="fr" sz="2100">
                <a:solidFill>
                  <a:schemeClr val="dk1"/>
                </a:solidFill>
                <a:latin typeface="Old Standard TT"/>
                <a:ea typeface="Old Standard TT"/>
                <a:cs typeface="Old Standard TT"/>
                <a:sym typeface="Old Standard TT"/>
              </a:rPr>
              <a:t>0.47</a:t>
            </a:r>
            <a:endParaRPr sz="2100">
              <a:solidFill>
                <a:schemeClr val="dk1"/>
              </a:solidFill>
              <a:latin typeface="Old Standard TT"/>
              <a:ea typeface="Old Standard TT"/>
              <a:cs typeface="Old Standard TT"/>
              <a:sym typeface="Old Standard TT"/>
            </a:endParaRPr>
          </a:p>
        </p:txBody>
      </p:sp>
      <p:sp>
        <p:nvSpPr>
          <p:cNvPr id="209" name="Google Shape;209;p24"/>
          <p:cNvSpPr/>
          <p:nvPr/>
        </p:nvSpPr>
        <p:spPr>
          <a:xfrm>
            <a:off x="6104875" y="1598425"/>
            <a:ext cx="1535400" cy="10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0.39</a:t>
            </a:r>
            <a:endParaRPr sz="21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1600">
                <a:solidFill>
                  <a:srgbClr val="999999"/>
                </a:solidFill>
                <a:latin typeface="Old Standard TT"/>
                <a:ea typeface="Old Standard TT"/>
                <a:cs typeface="Old Standard TT"/>
                <a:sym typeface="Old Standard TT"/>
              </a:rPr>
              <a:t>-</a:t>
            </a:r>
            <a:endParaRPr sz="16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0.32</a:t>
            </a:r>
            <a:endParaRPr sz="2100">
              <a:solidFill>
                <a:srgbClr val="999999"/>
              </a:solidFill>
              <a:latin typeface="Old Standard TT"/>
              <a:ea typeface="Old Standard TT"/>
              <a:cs typeface="Old Standard TT"/>
              <a:sym typeface="Old Standard TT"/>
            </a:endParaRPr>
          </a:p>
        </p:txBody>
      </p:sp>
      <p:sp>
        <p:nvSpPr>
          <p:cNvPr id="210" name="Google Shape;210;p24"/>
          <p:cNvSpPr/>
          <p:nvPr/>
        </p:nvSpPr>
        <p:spPr>
          <a:xfrm>
            <a:off x="7640275" y="1598425"/>
            <a:ext cx="1491000" cy="10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0.43</a:t>
            </a:r>
            <a:endParaRPr sz="21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1600">
                <a:solidFill>
                  <a:srgbClr val="999999"/>
                </a:solidFill>
                <a:latin typeface="Old Standard TT"/>
                <a:ea typeface="Old Standard TT"/>
                <a:cs typeface="Old Standard TT"/>
                <a:sym typeface="Old Standard TT"/>
              </a:rPr>
              <a:t>-</a:t>
            </a:r>
            <a:endParaRPr sz="16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0.47</a:t>
            </a:r>
            <a:endParaRPr sz="2100">
              <a:solidFill>
                <a:srgbClr val="999999"/>
              </a:solidFill>
              <a:latin typeface="Old Standard TT"/>
              <a:ea typeface="Old Standard TT"/>
              <a:cs typeface="Old Standard TT"/>
              <a:sym typeface="Old Standard TT"/>
            </a:endParaRPr>
          </a:p>
        </p:txBody>
      </p:sp>
      <p:sp>
        <p:nvSpPr>
          <p:cNvPr id="211" name="Google Shape;211;p24"/>
          <p:cNvSpPr/>
          <p:nvPr/>
        </p:nvSpPr>
        <p:spPr>
          <a:xfrm>
            <a:off x="1547563" y="3809725"/>
            <a:ext cx="1491000" cy="109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fr" sz="2100">
                <a:solidFill>
                  <a:schemeClr val="dk1"/>
                </a:solidFill>
                <a:latin typeface="Old Standard TT"/>
                <a:ea typeface="Old Standard TT"/>
                <a:cs typeface="Old Standard TT"/>
                <a:sym typeface="Old Standard TT"/>
              </a:rPr>
              <a:t>0.19</a:t>
            </a:r>
            <a:endParaRPr sz="2100">
              <a:solidFill>
                <a:schemeClr val="dk1"/>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lang="fr" sz="1600">
                <a:solidFill>
                  <a:schemeClr val="dk1"/>
                </a:solidFill>
                <a:latin typeface="Old Standard TT"/>
                <a:ea typeface="Old Standard TT"/>
                <a:cs typeface="Old Standard TT"/>
                <a:sym typeface="Old Standard TT"/>
              </a:rPr>
              <a:t>-</a:t>
            </a:r>
            <a:endParaRPr sz="1600">
              <a:solidFill>
                <a:schemeClr val="dk1"/>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lang="fr" sz="2100">
                <a:solidFill>
                  <a:schemeClr val="dk1"/>
                </a:solidFill>
                <a:latin typeface="Old Standard TT"/>
                <a:ea typeface="Old Standard TT"/>
                <a:cs typeface="Old Standard TT"/>
                <a:sym typeface="Old Standard TT"/>
              </a:rPr>
              <a:t>-</a:t>
            </a:r>
            <a:endParaRPr sz="2100">
              <a:solidFill>
                <a:schemeClr val="dk1"/>
              </a:solidFill>
              <a:latin typeface="Old Standard TT"/>
              <a:ea typeface="Old Standard TT"/>
              <a:cs typeface="Old Standard TT"/>
              <a:sym typeface="Old Standard TT"/>
            </a:endParaRPr>
          </a:p>
        </p:txBody>
      </p:sp>
      <p:sp>
        <p:nvSpPr>
          <p:cNvPr id="212" name="Google Shape;212;p24"/>
          <p:cNvSpPr/>
          <p:nvPr/>
        </p:nvSpPr>
        <p:spPr>
          <a:xfrm>
            <a:off x="3081437" y="3809725"/>
            <a:ext cx="1491000" cy="109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fr" sz="2100">
                <a:solidFill>
                  <a:schemeClr val="dk1"/>
                </a:solidFill>
                <a:latin typeface="Old Standard TT"/>
                <a:ea typeface="Old Standard TT"/>
                <a:cs typeface="Old Standard TT"/>
                <a:sym typeface="Old Standard TT"/>
              </a:rPr>
              <a:t>0.49</a:t>
            </a:r>
            <a:endParaRPr sz="2100">
              <a:solidFill>
                <a:schemeClr val="dk1"/>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lang="fr" sz="1600">
                <a:solidFill>
                  <a:schemeClr val="dk1"/>
                </a:solidFill>
                <a:latin typeface="Old Standard TT"/>
                <a:ea typeface="Old Standard TT"/>
                <a:cs typeface="Old Standard TT"/>
                <a:sym typeface="Old Standard TT"/>
              </a:rPr>
              <a:t>-</a:t>
            </a:r>
            <a:endParaRPr sz="1600">
              <a:solidFill>
                <a:schemeClr val="dk1"/>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lang="fr" sz="2100">
                <a:solidFill>
                  <a:schemeClr val="dk1"/>
                </a:solidFill>
                <a:latin typeface="Old Standard TT"/>
                <a:ea typeface="Old Standard TT"/>
                <a:cs typeface="Old Standard TT"/>
                <a:sym typeface="Old Standard TT"/>
              </a:rPr>
              <a:t>0.50</a:t>
            </a:r>
            <a:endParaRPr b="1" sz="2400">
              <a:solidFill>
                <a:schemeClr val="dk2"/>
              </a:solidFill>
              <a:latin typeface="Old Standard TT"/>
              <a:ea typeface="Old Standard TT"/>
              <a:cs typeface="Old Standard TT"/>
              <a:sym typeface="Old Standard TT"/>
            </a:endParaRPr>
          </a:p>
        </p:txBody>
      </p:sp>
      <p:sp>
        <p:nvSpPr>
          <p:cNvPr id="213" name="Google Shape;213;p24"/>
          <p:cNvSpPr/>
          <p:nvPr/>
        </p:nvSpPr>
        <p:spPr>
          <a:xfrm>
            <a:off x="4615288" y="3809725"/>
            <a:ext cx="1491000" cy="109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fr" sz="2100">
                <a:solidFill>
                  <a:schemeClr val="dk1"/>
                </a:solidFill>
                <a:latin typeface="Old Standard TT"/>
                <a:ea typeface="Old Standard TT"/>
                <a:cs typeface="Old Standard TT"/>
                <a:sym typeface="Old Standard TT"/>
              </a:rPr>
              <a:t>0.13</a:t>
            </a:r>
            <a:endParaRPr sz="2100">
              <a:solidFill>
                <a:schemeClr val="dk1"/>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lang="fr" sz="1600">
                <a:solidFill>
                  <a:schemeClr val="dk1"/>
                </a:solidFill>
                <a:latin typeface="Old Standard TT"/>
                <a:ea typeface="Old Standard TT"/>
                <a:cs typeface="Old Standard TT"/>
                <a:sym typeface="Old Standard TT"/>
              </a:rPr>
              <a:t>-</a:t>
            </a:r>
            <a:endParaRPr sz="1600">
              <a:solidFill>
                <a:schemeClr val="dk1"/>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lang="fr" sz="2100">
                <a:solidFill>
                  <a:schemeClr val="dk1"/>
                </a:solidFill>
                <a:latin typeface="Old Standard TT"/>
                <a:ea typeface="Old Standard TT"/>
                <a:cs typeface="Old Standard TT"/>
                <a:sym typeface="Old Standard TT"/>
              </a:rPr>
              <a:t>-</a:t>
            </a:r>
            <a:endParaRPr sz="2100">
              <a:solidFill>
                <a:schemeClr val="dk1"/>
              </a:solidFill>
              <a:latin typeface="Old Standard TT"/>
              <a:ea typeface="Old Standard TT"/>
              <a:cs typeface="Old Standard TT"/>
              <a:sym typeface="Old Standard TT"/>
            </a:endParaRPr>
          </a:p>
        </p:txBody>
      </p:sp>
      <p:sp>
        <p:nvSpPr>
          <p:cNvPr id="214" name="Google Shape;214;p24"/>
          <p:cNvSpPr/>
          <p:nvPr/>
        </p:nvSpPr>
        <p:spPr>
          <a:xfrm>
            <a:off x="6104875" y="2720425"/>
            <a:ext cx="1535400" cy="10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0.94</a:t>
            </a:r>
            <a:endParaRPr sz="21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1600">
                <a:solidFill>
                  <a:srgbClr val="999999"/>
                </a:solidFill>
                <a:latin typeface="Old Standard TT"/>
                <a:ea typeface="Old Standard TT"/>
                <a:cs typeface="Old Standard TT"/>
                <a:sym typeface="Old Standard TT"/>
              </a:rPr>
              <a:t>-</a:t>
            </a:r>
            <a:endParaRPr sz="16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0.43</a:t>
            </a:r>
            <a:endParaRPr sz="2100">
              <a:solidFill>
                <a:srgbClr val="999999"/>
              </a:solidFill>
              <a:latin typeface="Old Standard TT"/>
              <a:ea typeface="Old Standard TT"/>
              <a:cs typeface="Old Standard TT"/>
              <a:sym typeface="Old Standard TT"/>
            </a:endParaRPr>
          </a:p>
        </p:txBody>
      </p:sp>
      <p:sp>
        <p:nvSpPr>
          <p:cNvPr id="215" name="Google Shape;215;p24"/>
          <p:cNvSpPr/>
          <p:nvPr/>
        </p:nvSpPr>
        <p:spPr>
          <a:xfrm>
            <a:off x="7640275" y="2720425"/>
            <a:ext cx="1491000" cy="10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0.93</a:t>
            </a:r>
            <a:endParaRPr sz="21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1600">
                <a:solidFill>
                  <a:srgbClr val="999999"/>
                </a:solidFill>
                <a:latin typeface="Old Standard TT"/>
                <a:ea typeface="Old Standard TT"/>
                <a:cs typeface="Old Standard TT"/>
                <a:sym typeface="Old Standard TT"/>
              </a:rPr>
              <a:t>-</a:t>
            </a:r>
            <a:endParaRPr sz="16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0.43</a:t>
            </a:r>
            <a:endParaRPr sz="2100">
              <a:solidFill>
                <a:srgbClr val="999999"/>
              </a:solidFill>
              <a:latin typeface="Old Standard TT"/>
              <a:ea typeface="Old Standard TT"/>
              <a:cs typeface="Old Standard TT"/>
              <a:sym typeface="Old Standard TT"/>
            </a:endParaRPr>
          </a:p>
        </p:txBody>
      </p:sp>
      <p:sp>
        <p:nvSpPr>
          <p:cNvPr id="216" name="Google Shape;216;p24"/>
          <p:cNvSpPr/>
          <p:nvPr/>
        </p:nvSpPr>
        <p:spPr>
          <a:xfrm>
            <a:off x="6106288" y="3783975"/>
            <a:ext cx="1535400" cy="10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0.33</a:t>
            </a:r>
            <a:endParaRPr sz="21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1600">
                <a:solidFill>
                  <a:srgbClr val="999999"/>
                </a:solidFill>
                <a:latin typeface="Old Standard TT"/>
                <a:ea typeface="Old Standard TT"/>
                <a:cs typeface="Old Standard TT"/>
                <a:sym typeface="Old Standard TT"/>
              </a:rPr>
              <a:t>-</a:t>
            </a:r>
            <a:endParaRPr sz="16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a:t>
            </a:r>
            <a:endParaRPr sz="2100">
              <a:solidFill>
                <a:srgbClr val="999999"/>
              </a:solidFill>
              <a:latin typeface="Old Standard TT"/>
              <a:ea typeface="Old Standard TT"/>
              <a:cs typeface="Old Standard TT"/>
              <a:sym typeface="Old Standard TT"/>
            </a:endParaRPr>
          </a:p>
        </p:txBody>
      </p:sp>
      <p:sp>
        <p:nvSpPr>
          <p:cNvPr id="217" name="Google Shape;217;p24"/>
          <p:cNvSpPr/>
          <p:nvPr/>
        </p:nvSpPr>
        <p:spPr>
          <a:xfrm>
            <a:off x="7641688" y="3783975"/>
            <a:ext cx="1491000" cy="10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0.33</a:t>
            </a:r>
            <a:endParaRPr sz="21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1600">
                <a:solidFill>
                  <a:srgbClr val="999999"/>
                </a:solidFill>
                <a:latin typeface="Old Standard TT"/>
                <a:ea typeface="Old Standard TT"/>
                <a:cs typeface="Old Standard TT"/>
                <a:sym typeface="Old Standard TT"/>
              </a:rPr>
              <a:t>-</a:t>
            </a:r>
            <a:endParaRPr sz="1600">
              <a:solidFill>
                <a:srgbClr val="999999"/>
              </a:solidFill>
              <a:latin typeface="Old Standard TT"/>
              <a:ea typeface="Old Standard TT"/>
              <a:cs typeface="Old Standard TT"/>
              <a:sym typeface="Old Standard TT"/>
            </a:endParaRPr>
          </a:p>
          <a:p>
            <a:pPr indent="0" lvl="0" marL="0" rtl="0" algn="ctr">
              <a:spcBef>
                <a:spcPts val="0"/>
              </a:spcBef>
              <a:spcAft>
                <a:spcPts val="0"/>
              </a:spcAft>
              <a:buNone/>
            </a:pPr>
            <a:r>
              <a:rPr lang="fr" sz="2100">
                <a:solidFill>
                  <a:srgbClr val="999999"/>
                </a:solidFill>
                <a:latin typeface="Old Standard TT"/>
                <a:ea typeface="Old Standard TT"/>
                <a:cs typeface="Old Standard TT"/>
                <a:sym typeface="Old Standard TT"/>
              </a:rPr>
              <a:t>0.29</a:t>
            </a:r>
            <a:endParaRPr sz="2100">
              <a:solidFill>
                <a:srgbClr val="999999"/>
              </a:solidFill>
              <a:latin typeface="Old Standard TT"/>
              <a:ea typeface="Old Standard TT"/>
              <a:cs typeface="Old Standard TT"/>
              <a:sym typeface="Old Standard TT"/>
            </a:endParaRPr>
          </a:p>
        </p:txBody>
      </p:sp>
      <p:sp>
        <p:nvSpPr>
          <p:cNvPr id="218" name="Google Shape;218;p24"/>
          <p:cNvSpPr/>
          <p:nvPr/>
        </p:nvSpPr>
        <p:spPr>
          <a:xfrm>
            <a:off x="1546088" y="2691025"/>
            <a:ext cx="1535400" cy="109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fr" sz="2400">
                <a:solidFill>
                  <a:schemeClr val="dk2"/>
                </a:solidFill>
                <a:latin typeface="Old Standard TT"/>
                <a:ea typeface="Old Standard TT"/>
                <a:cs typeface="Old Standard TT"/>
                <a:sym typeface="Old Standard TT"/>
              </a:rPr>
              <a:t>0.93</a:t>
            </a:r>
            <a:endParaRPr b="1" sz="2400">
              <a:solidFill>
                <a:schemeClr val="dk2"/>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b="1" lang="fr" sz="1100">
                <a:solidFill>
                  <a:schemeClr val="dk2"/>
                </a:solidFill>
                <a:latin typeface="Old Standard TT"/>
                <a:ea typeface="Old Standard TT"/>
                <a:cs typeface="Old Standard TT"/>
                <a:sym typeface="Old Standard TT"/>
              </a:rPr>
              <a:t>-</a:t>
            </a:r>
            <a:endParaRPr b="1" sz="1100">
              <a:solidFill>
                <a:schemeClr val="dk2"/>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b="1" lang="fr" sz="2400">
                <a:solidFill>
                  <a:schemeClr val="dk2"/>
                </a:solidFill>
                <a:latin typeface="Old Standard TT"/>
                <a:ea typeface="Old Standard TT"/>
                <a:cs typeface="Old Standard TT"/>
                <a:sym typeface="Old Standard TT"/>
              </a:rPr>
              <a:t>0.41</a:t>
            </a:r>
            <a:endParaRPr b="1" sz="2400">
              <a:solidFill>
                <a:schemeClr val="dk2"/>
              </a:solidFill>
              <a:latin typeface="Old Standard TT"/>
              <a:ea typeface="Old Standard TT"/>
              <a:cs typeface="Old Standard TT"/>
              <a:sym typeface="Old Standard TT"/>
            </a:endParaRPr>
          </a:p>
        </p:txBody>
      </p:sp>
      <p:sp>
        <p:nvSpPr>
          <p:cNvPr id="219" name="Google Shape;219;p24"/>
          <p:cNvSpPr/>
          <p:nvPr/>
        </p:nvSpPr>
        <p:spPr>
          <a:xfrm>
            <a:off x="3081363" y="2691025"/>
            <a:ext cx="1491000" cy="109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fr" sz="2400">
                <a:solidFill>
                  <a:schemeClr val="dk2"/>
                </a:solidFill>
                <a:latin typeface="Old Standard TT"/>
                <a:ea typeface="Old Standard TT"/>
                <a:cs typeface="Old Standard TT"/>
                <a:sym typeface="Old Standard TT"/>
              </a:rPr>
              <a:t>0.99</a:t>
            </a:r>
            <a:endParaRPr b="1" sz="2400">
              <a:solidFill>
                <a:schemeClr val="dk2"/>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b="1" lang="fr" sz="1100">
                <a:solidFill>
                  <a:schemeClr val="dk2"/>
                </a:solidFill>
                <a:latin typeface="Old Standard TT"/>
                <a:ea typeface="Old Standard TT"/>
                <a:cs typeface="Old Standard TT"/>
                <a:sym typeface="Old Standard TT"/>
              </a:rPr>
              <a:t>-</a:t>
            </a:r>
            <a:endParaRPr b="1" sz="1100">
              <a:solidFill>
                <a:schemeClr val="dk2"/>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b="1" lang="fr" sz="2400">
                <a:solidFill>
                  <a:schemeClr val="dk2"/>
                </a:solidFill>
                <a:latin typeface="Old Standard TT"/>
                <a:ea typeface="Old Standard TT"/>
                <a:cs typeface="Old Standard TT"/>
                <a:sym typeface="Old Standard TT"/>
              </a:rPr>
              <a:t>0.59</a:t>
            </a:r>
            <a:endParaRPr b="1" sz="2400">
              <a:solidFill>
                <a:schemeClr val="dk2"/>
              </a:solidFill>
              <a:latin typeface="Old Standard TT"/>
              <a:ea typeface="Old Standard TT"/>
              <a:cs typeface="Old Standard TT"/>
              <a:sym typeface="Old Standard TT"/>
            </a:endParaRPr>
          </a:p>
        </p:txBody>
      </p:sp>
      <p:sp>
        <p:nvSpPr>
          <p:cNvPr id="220" name="Google Shape;220;p24"/>
          <p:cNvSpPr/>
          <p:nvPr/>
        </p:nvSpPr>
        <p:spPr>
          <a:xfrm>
            <a:off x="4572363" y="2691025"/>
            <a:ext cx="1535400" cy="109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lang="fr" sz="2400">
                <a:solidFill>
                  <a:schemeClr val="dk2"/>
                </a:solidFill>
                <a:latin typeface="Old Standard TT"/>
                <a:ea typeface="Old Standard TT"/>
                <a:cs typeface="Old Standard TT"/>
                <a:sym typeface="Old Standard TT"/>
              </a:rPr>
              <a:t>0.91</a:t>
            </a:r>
            <a:endParaRPr b="1" sz="2400">
              <a:solidFill>
                <a:schemeClr val="dk2"/>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b="1" lang="fr" sz="1100">
                <a:solidFill>
                  <a:schemeClr val="dk2"/>
                </a:solidFill>
                <a:latin typeface="Old Standard TT"/>
                <a:ea typeface="Old Standard TT"/>
                <a:cs typeface="Old Standard TT"/>
                <a:sym typeface="Old Standard TT"/>
              </a:rPr>
              <a:t>-</a:t>
            </a:r>
            <a:endParaRPr b="1" sz="1100">
              <a:solidFill>
                <a:schemeClr val="dk2"/>
              </a:solidFill>
              <a:latin typeface="Old Standard TT"/>
              <a:ea typeface="Old Standard TT"/>
              <a:cs typeface="Old Standard TT"/>
              <a:sym typeface="Old Standard TT"/>
            </a:endParaRPr>
          </a:p>
          <a:p>
            <a:pPr indent="0" lvl="0" marL="0" marR="0" rtl="0" algn="ctr">
              <a:lnSpc>
                <a:spcPct val="100000"/>
              </a:lnSpc>
              <a:spcBef>
                <a:spcPts val="0"/>
              </a:spcBef>
              <a:spcAft>
                <a:spcPts val="0"/>
              </a:spcAft>
              <a:buNone/>
            </a:pPr>
            <a:r>
              <a:rPr b="1" lang="fr" sz="2400">
                <a:solidFill>
                  <a:schemeClr val="dk2"/>
                </a:solidFill>
                <a:latin typeface="Old Standard TT"/>
                <a:ea typeface="Old Standard TT"/>
                <a:cs typeface="Old Standard TT"/>
                <a:sym typeface="Old Standard TT"/>
              </a:rPr>
              <a:t>0.40</a:t>
            </a:r>
            <a:endParaRPr sz="2100">
              <a:solidFill>
                <a:schemeClr val="dk1"/>
              </a:solidFill>
              <a:latin typeface="Old Standard TT"/>
              <a:ea typeface="Old Standard TT"/>
              <a:cs typeface="Old Standard TT"/>
              <a:sym typeface="Old Standard T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5"/>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fr"/>
              <a:t>Deployment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Deployment</a:t>
            </a:r>
            <a:endParaRPr/>
          </a:p>
        </p:txBody>
      </p:sp>
      <p:pic>
        <p:nvPicPr>
          <p:cNvPr id="231" name="Google Shape;231;p26"/>
          <p:cNvPicPr preferRelativeResize="0"/>
          <p:nvPr/>
        </p:nvPicPr>
        <p:blipFill>
          <a:blip r:embed="rId3">
            <a:alphaModFix/>
          </a:blip>
          <a:stretch>
            <a:fillRect/>
          </a:stretch>
        </p:blipFill>
        <p:spPr>
          <a:xfrm>
            <a:off x="3382963" y="608525"/>
            <a:ext cx="1943337" cy="360425"/>
          </a:xfrm>
          <a:prstGeom prst="rect">
            <a:avLst/>
          </a:prstGeom>
          <a:noFill/>
          <a:ln>
            <a:noFill/>
          </a:ln>
        </p:spPr>
      </p:pic>
      <p:pic>
        <p:nvPicPr>
          <p:cNvPr id="232" name="Google Shape;232;p26"/>
          <p:cNvPicPr preferRelativeResize="0"/>
          <p:nvPr/>
        </p:nvPicPr>
        <p:blipFill>
          <a:blip r:embed="rId4">
            <a:alphaModFix/>
          </a:blip>
          <a:stretch>
            <a:fillRect/>
          </a:stretch>
        </p:blipFill>
        <p:spPr>
          <a:xfrm>
            <a:off x="7074014" y="577123"/>
            <a:ext cx="1519775" cy="423225"/>
          </a:xfrm>
          <a:prstGeom prst="rect">
            <a:avLst/>
          </a:prstGeom>
          <a:noFill/>
          <a:ln>
            <a:noFill/>
          </a:ln>
        </p:spPr>
      </p:pic>
      <p:cxnSp>
        <p:nvCxnSpPr>
          <p:cNvPr id="233" name="Google Shape;233;p26"/>
          <p:cNvCxnSpPr>
            <a:stCxn id="231" idx="3"/>
            <a:endCxn id="232" idx="1"/>
          </p:cNvCxnSpPr>
          <p:nvPr/>
        </p:nvCxnSpPr>
        <p:spPr>
          <a:xfrm>
            <a:off x="5326300" y="788738"/>
            <a:ext cx="1747800" cy="0"/>
          </a:xfrm>
          <a:prstGeom prst="straightConnector1">
            <a:avLst/>
          </a:prstGeom>
          <a:noFill/>
          <a:ln cap="flat" cmpd="sng" w="28575">
            <a:solidFill>
              <a:schemeClr val="dk2"/>
            </a:solidFill>
            <a:prstDash val="solid"/>
            <a:round/>
            <a:headEnd len="med" w="med" type="none"/>
            <a:tailEnd len="med" w="med" type="triangle"/>
          </a:ln>
        </p:spPr>
      </p:cxnSp>
      <p:pic>
        <p:nvPicPr>
          <p:cNvPr id="234" name="Google Shape;234;p26"/>
          <p:cNvPicPr preferRelativeResize="0"/>
          <p:nvPr/>
        </p:nvPicPr>
        <p:blipFill>
          <a:blip r:embed="rId5">
            <a:alphaModFix/>
          </a:blip>
          <a:stretch>
            <a:fillRect/>
          </a:stretch>
        </p:blipFill>
        <p:spPr>
          <a:xfrm>
            <a:off x="5428399" y="243050"/>
            <a:ext cx="1119950" cy="382424"/>
          </a:xfrm>
          <a:prstGeom prst="rect">
            <a:avLst/>
          </a:prstGeom>
          <a:noFill/>
          <a:ln>
            <a:noFill/>
          </a:ln>
        </p:spPr>
      </p:pic>
      <p:sp>
        <p:nvSpPr>
          <p:cNvPr id="235" name="Google Shape;235;p26"/>
          <p:cNvSpPr txBox="1"/>
          <p:nvPr>
            <p:ph idx="1" type="body"/>
          </p:nvPr>
        </p:nvSpPr>
        <p:spPr>
          <a:xfrm>
            <a:off x="311700" y="1473950"/>
            <a:ext cx="2320200" cy="762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fr" sz="1600"/>
              <a:t>API Endpoints:</a:t>
            </a:r>
            <a:endParaRPr sz="1600"/>
          </a:p>
        </p:txBody>
      </p:sp>
      <p:graphicFrame>
        <p:nvGraphicFramePr>
          <p:cNvPr id="236" name="Google Shape;236;p26"/>
          <p:cNvGraphicFramePr/>
          <p:nvPr/>
        </p:nvGraphicFramePr>
        <p:xfrm>
          <a:off x="278475" y="2114375"/>
          <a:ext cx="3000000" cy="3000000"/>
        </p:xfrm>
        <a:graphic>
          <a:graphicData uri="http://schemas.openxmlformats.org/drawingml/2006/table">
            <a:tbl>
              <a:tblPr>
                <a:noFill/>
                <a:tableStyleId>{EFD4631D-64B9-4C4D-B07C-D77B28E18D1B}</a:tableStyleId>
              </a:tblPr>
              <a:tblGrid>
                <a:gridCol w="835475"/>
                <a:gridCol w="758900"/>
                <a:gridCol w="2362775"/>
              </a:tblGrid>
              <a:tr h="381000">
                <a:tc>
                  <a:txBody>
                    <a:bodyPr/>
                    <a:lstStyle/>
                    <a:p>
                      <a:pPr indent="0" lvl="0" marL="0" rtl="0" algn="l">
                        <a:lnSpc>
                          <a:spcPct val="115000"/>
                        </a:lnSpc>
                        <a:spcBef>
                          <a:spcPts val="1200"/>
                        </a:spcBef>
                        <a:spcAft>
                          <a:spcPts val="1200"/>
                        </a:spcAft>
                        <a:buNone/>
                      </a:pPr>
                      <a:r>
                        <a:rPr b="1" lang="fr" sz="1200">
                          <a:solidFill>
                            <a:schemeClr val="dk1"/>
                          </a:solidFill>
                          <a:latin typeface="Old Standard TT"/>
                          <a:ea typeface="Old Standard TT"/>
                          <a:cs typeface="Old Standard TT"/>
                          <a:sym typeface="Old Standard TT"/>
                        </a:rPr>
                        <a:t>Endpoint</a:t>
                      </a:r>
                      <a:endParaRPr b="1"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fr" sz="1200">
                          <a:latin typeface="Old Standard TT"/>
                          <a:ea typeface="Old Standard TT"/>
                          <a:cs typeface="Old Standard TT"/>
                          <a:sym typeface="Old Standard TT"/>
                        </a:rPr>
                        <a:t>Method</a:t>
                      </a:r>
                      <a:endParaRPr b="1"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b="1" lang="fr" sz="1200">
                          <a:latin typeface="Old Standard TT"/>
                          <a:ea typeface="Old Standard TT"/>
                          <a:cs typeface="Old Standard TT"/>
                          <a:sym typeface="Old Standard TT"/>
                        </a:rPr>
                        <a:t>Description</a:t>
                      </a:r>
                      <a:endParaRPr b="1"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fr" sz="1200">
                          <a:latin typeface="Old Standard TT"/>
                          <a:ea typeface="Old Standard TT"/>
                          <a:cs typeface="Old Standard TT"/>
                          <a:sym typeface="Old Standard TT"/>
                        </a:rPr>
                        <a:t>/health</a:t>
                      </a:r>
                      <a:endParaRPr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fr" sz="1200">
                          <a:solidFill>
                            <a:schemeClr val="dk1"/>
                          </a:solidFill>
                          <a:latin typeface="Old Standard TT"/>
                          <a:ea typeface="Old Standard TT"/>
                          <a:cs typeface="Old Standard TT"/>
                          <a:sym typeface="Old Standard TT"/>
                        </a:rPr>
                        <a:t>GET</a:t>
                      </a:r>
                      <a:endParaRPr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fr" sz="1200">
                          <a:latin typeface="Old Standard TT"/>
                          <a:ea typeface="Old Standard TT"/>
                          <a:cs typeface="Old Standard TT"/>
                          <a:sym typeface="Old Standard TT"/>
                        </a:rPr>
                        <a:t>🔍 Check if the API is running</a:t>
                      </a:r>
                      <a:endParaRPr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fr" sz="1200">
                          <a:latin typeface="Old Standard TT"/>
                          <a:ea typeface="Old Standard TT"/>
                          <a:cs typeface="Old Standard TT"/>
                          <a:sym typeface="Old Standard TT"/>
                        </a:rPr>
                        <a:t>/predict</a:t>
                      </a:r>
                      <a:endParaRPr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b="1" lang="fr" sz="1200">
                          <a:solidFill>
                            <a:schemeClr val="dk1"/>
                          </a:solidFill>
                          <a:latin typeface="Old Standard TT"/>
                          <a:ea typeface="Old Standard TT"/>
                          <a:cs typeface="Old Standard TT"/>
                          <a:sym typeface="Old Standard TT"/>
                        </a:rPr>
                        <a:t>POST</a:t>
                      </a:r>
                      <a:endParaRPr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fr" sz="1200">
                          <a:solidFill>
                            <a:schemeClr val="dk1"/>
                          </a:solidFill>
                          <a:latin typeface="Old Standard TT"/>
                          <a:ea typeface="Old Standard TT"/>
                          <a:cs typeface="Old Standard TT"/>
                          <a:sym typeface="Old Standard TT"/>
                        </a:rPr>
                        <a:t>🤖 Returns the </a:t>
                      </a:r>
                      <a:r>
                        <a:rPr b="1" lang="fr" sz="1200">
                          <a:solidFill>
                            <a:schemeClr val="dk1"/>
                          </a:solidFill>
                          <a:latin typeface="Old Standard TT"/>
                          <a:ea typeface="Old Standard TT"/>
                          <a:cs typeface="Old Standard TT"/>
                          <a:sym typeface="Old Standard TT"/>
                        </a:rPr>
                        <a:t>prediction</a:t>
                      </a:r>
                      <a:endParaRPr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fr" sz="1200">
                          <a:latin typeface="Old Standard TT"/>
                          <a:ea typeface="Old Standard TT"/>
                          <a:cs typeface="Old Standard TT"/>
                          <a:sym typeface="Old Standard TT"/>
                        </a:rPr>
                        <a:t>/upload</a:t>
                      </a:r>
                      <a:endParaRPr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b="1" lang="fr" sz="1200">
                          <a:solidFill>
                            <a:schemeClr val="dk1"/>
                          </a:solidFill>
                          <a:latin typeface="Old Standard TT"/>
                          <a:ea typeface="Old Standard TT"/>
                          <a:cs typeface="Old Standard TT"/>
                          <a:sym typeface="Old Standard TT"/>
                        </a:rPr>
                        <a:t>POST</a:t>
                      </a:r>
                      <a:endParaRPr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fr" sz="1200">
                          <a:latin typeface="Old Standard TT"/>
                          <a:ea typeface="Old Standard TT"/>
                          <a:cs typeface="Old Standard TT"/>
                          <a:sym typeface="Old Standard TT"/>
                        </a:rPr>
                        <a:t>📸 Upload an image</a:t>
                      </a:r>
                      <a:endParaRPr sz="1200">
                        <a:latin typeface="Old Standard TT"/>
                        <a:ea typeface="Old Standard TT"/>
                        <a:cs typeface="Old Standard TT"/>
                        <a:sym typeface="Old Standard T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37" name="Google Shape;237;p26"/>
          <p:cNvSpPr txBox="1"/>
          <p:nvPr/>
        </p:nvSpPr>
        <p:spPr>
          <a:xfrm>
            <a:off x="311700" y="3891675"/>
            <a:ext cx="30000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a:solidFill>
                  <a:schemeClr val="dk1"/>
                </a:solidFill>
                <a:latin typeface="Old Standard TT"/>
                <a:ea typeface="Old Standard TT"/>
                <a:cs typeface="Old Standard TT"/>
                <a:sym typeface="Old Standard TT"/>
              </a:rPr>
              <a:t>✅ </a:t>
            </a:r>
            <a:r>
              <a:rPr b="1" lang="fr">
                <a:solidFill>
                  <a:schemeClr val="dk1"/>
                </a:solidFill>
                <a:latin typeface="Old Standard TT"/>
                <a:ea typeface="Old Standard TT"/>
                <a:cs typeface="Old Standard TT"/>
                <a:sym typeface="Old Standard TT"/>
              </a:rPr>
              <a:t>Typology of Predictions:</a:t>
            </a:r>
            <a:endParaRPr b="1">
              <a:solidFill>
                <a:schemeClr val="dk1"/>
              </a:solidFill>
              <a:latin typeface="Old Standard TT"/>
              <a:ea typeface="Old Standard TT"/>
              <a:cs typeface="Old Standard TT"/>
              <a:sym typeface="Old Standard TT"/>
            </a:endParaRPr>
          </a:p>
          <a:p>
            <a:pPr indent="0" lvl="0" marL="0" rtl="0" algn="l">
              <a:lnSpc>
                <a:spcPct val="115000"/>
              </a:lnSpc>
              <a:spcBef>
                <a:spcPts val="1200"/>
              </a:spcBef>
              <a:spcAft>
                <a:spcPts val="1200"/>
              </a:spcAft>
              <a:buNone/>
            </a:pPr>
            <a:r>
              <a:rPr b="1" lang="fr">
                <a:solidFill>
                  <a:schemeClr val="dk1"/>
                </a:solidFill>
                <a:latin typeface="Old Standard TT"/>
                <a:ea typeface="Old Standard TT"/>
                <a:cs typeface="Old Standard TT"/>
                <a:sym typeface="Old Standard TT"/>
              </a:rPr>
              <a:t>Skin Types:</a:t>
            </a:r>
            <a:r>
              <a:rPr lang="fr">
                <a:solidFill>
                  <a:schemeClr val="dk1"/>
                </a:solidFill>
                <a:latin typeface="Old Standard TT"/>
                <a:ea typeface="Old Standard TT"/>
                <a:cs typeface="Old Standard TT"/>
                <a:sym typeface="Old Standard TT"/>
              </a:rPr>
              <a:t> Normal, Dry, Oily</a:t>
            </a:r>
            <a:endParaRPr>
              <a:solidFill>
                <a:schemeClr val="dk1"/>
              </a:solidFill>
              <a:latin typeface="Old Standard TT"/>
              <a:ea typeface="Old Standard TT"/>
              <a:cs typeface="Old Standard TT"/>
              <a:sym typeface="Old Standard TT"/>
            </a:endParaRPr>
          </a:p>
        </p:txBody>
      </p:sp>
      <p:pic>
        <p:nvPicPr>
          <p:cNvPr id="238" name="Google Shape;238;p26">
            <a:hlinkClick r:id="rId6"/>
          </p:cNvPr>
          <p:cNvPicPr preferRelativeResize="0"/>
          <p:nvPr/>
        </p:nvPicPr>
        <p:blipFill>
          <a:blip r:embed="rId7">
            <a:alphaModFix/>
          </a:blip>
          <a:stretch>
            <a:fillRect/>
          </a:stretch>
        </p:blipFill>
        <p:spPr>
          <a:xfrm>
            <a:off x="4421350" y="1533000"/>
            <a:ext cx="4603574" cy="2686749"/>
          </a:xfrm>
          <a:prstGeom prst="rect">
            <a:avLst/>
          </a:prstGeom>
          <a:noFill/>
          <a:ln>
            <a:noFill/>
          </a:ln>
        </p:spPr>
      </p:pic>
      <p:sp>
        <p:nvSpPr>
          <p:cNvPr id="239" name="Google Shape;239;p26"/>
          <p:cNvSpPr txBox="1"/>
          <p:nvPr/>
        </p:nvSpPr>
        <p:spPr>
          <a:xfrm>
            <a:off x="5010125" y="4526625"/>
            <a:ext cx="3822300" cy="38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fr" sz="1000" u="sng">
                <a:solidFill>
                  <a:schemeClr val="hlink"/>
                </a:solidFill>
                <a:latin typeface="Old Standard TT"/>
                <a:ea typeface="Old Standard TT"/>
                <a:cs typeface="Old Standard TT"/>
                <a:sym typeface="Old Standard TT"/>
                <a:hlinkClick r:id="rId8"/>
              </a:rPr>
              <a:t>https://MSInTech-skin-dataset-project-final-api.hf.space/redoc</a:t>
            </a:r>
            <a:endParaRPr sz="1000" u="sng">
              <a:solidFill>
                <a:schemeClr val="hlink"/>
              </a:solidFill>
              <a:latin typeface="Old Standard TT"/>
              <a:ea typeface="Old Standard TT"/>
              <a:cs typeface="Old Standard TT"/>
              <a:sym typeface="Old Standard TT"/>
            </a:endParaRPr>
          </a:p>
          <a:p>
            <a:pPr indent="0" lvl="0" marL="0" rtl="0" algn="l">
              <a:spcBef>
                <a:spcPts val="1200"/>
              </a:spcBef>
              <a:spcAft>
                <a:spcPts val="0"/>
              </a:spcAft>
              <a:buNone/>
            </a:pPr>
            <a:r>
              <a:t/>
            </a:r>
            <a:endParaRPr sz="1000">
              <a:solidFill>
                <a:schemeClr val="dk1"/>
              </a:solidFill>
              <a:latin typeface="Old Standard TT"/>
              <a:ea typeface="Old Standard TT"/>
              <a:cs typeface="Old Standard TT"/>
              <a:sym typeface="Old Standard T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7"/>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Deployment</a:t>
            </a:r>
            <a:endParaRPr/>
          </a:p>
        </p:txBody>
      </p:sp>
      <p:pic>
        <p:nvPicPr>
          <p:cNvPr id="245" name="Google Shape;245;p27"/>
          <p:cNvPicPr preferRelativeResize="0"/>
          <p:nvPr/>
        </p:nvPicPr>
        <p:blipFill>
          <a:blip r:embed="rId3">
            <a:alphaModFix/>
          </a:blip>
          <a:stretch>
            <a:fillRect/>
          </a:stretch>
        </p:blipFill>
        <p:spPr>
          <a:xfrm>
            <a:off x="7119814" y="617048"/>
            <a:ext cx="1519775" cy="423225"/>
          </a:xfrm>
          <a:prstGeom prst="rect">
            <a:avLst/>
          </a:prstGeom>
          <a:noFill/>
          <a:ln>
            <a:noFill/>
          </a:ln>
        </p:spPr>
      </p:pic>
      <p:cxnSp>
        <p:nvCxnSpPr>
          <p:cNvPr id="246" name="Google Shape;246;p27"/>
          <p:cNvCxnSpPr>
            <a:stCxn id="247" idx="3"/>
            <a:endCxn id="245" idx="1"/>
          </p:cNvCxnSpPr>
          <p:nvPr/>
        </p:nvCxnSpPr>
        <p:spPr>
          <a:xfrm>
            <a:off x="5372112" y="828662"/>
            <a:ext cx="1747800" cy="0"/>
          </a:xfrm>
          <a:prstGeom prst="straightConnector1">
            <a:avLst/>
          </a:prstGeom>
          <a:noFill/>
          <a:ln cap="flat" cmpd="sng" w="28575">
            <a:solidFill>
              <a:schemeClr val="dk2"/>
            </a:solidFill>
            <a:prstDash val="solid"/>
            <a:round/>
            <a:headEnd len="med" w="med" type="none"/>
            <a:tailEnd len="med" w="med" type="triangle"/>
          </a:ln>
        </p:spPr>
      </p:cxnSp>
      <p:pic>
        <p:nvPicPr>
          <p:cNvPr id="247" name="Google Shape;247;p27"/>
          <p:cNvPicPr preferRelativeResize="0"/>
          <p:nvPr/>
        </p:nvPicPr>
        <p:blipFill>
          <a:blip r:embed="rId4">
            <a:alphaModFix/>
          </a:blip>
          <a:stretch>
            <a:fillRect/>
          </a:stretch>
        </p:blipFill>
        <p:spPr>
          <a:xfrm>
            <a:off x="3337162" y="599088"/>
            <a:ext cx="2034950" cy="459150"/>
          </a:xfrm>
          <a:prstGeom prst="rect">
            <a:avLst/>
          </a:prstGeom>
          <a:noFill/>
          <a:ln>
            <a:noFill/>
          </a:ln>
        </p:spPr>
      </p:pic>
      <p:pic>
        <p:nvPicPr>
          <p:cNvPr id="248" name="Google Shape;248;p27"/>
          <p:cNvPicPr preferRelativeResize="0"/>
          <p:nvPr/>
        </p:nvPicPr>
        <p:blipFill>
          <a:blip r:embed="rId5">
            <a:alphaModFix/>
          </a:blip>
          <a:stretch>
            <a:fillRect/>
          </a:stretch>
        </p:blipFill>
        <p:spPr>
          <a:xfrm>
            <a:off x="5428399" y="243050"/>
            <a:ext cx="1119950" cy="382424"/>
          </a:xfrm>
          <a:prstGeom prst="rect">
            <a:avLst/>
          </a:prstGeom>
          <a:noFill/>
          <a:ln>
            <a:noFill/>
          </a:ln>
        </p:spPr>
      </p:pic>
      <p:sp>
        <p:nvSpPr>
          <p:cNvPr id="249" name="Google Shape;249;p27"/>
          <p:cNvSpPr txBox="1"/>
          <p:nvPr/>
        </p:nvSpPr>
        <p:spPr>
          <a:xfrm>
            <a:off x="159250" y="1468425"/>
            <a:ext cx="3876900" cy="3417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fr">
                <a:solidFill>
                  <a:schemeClr val="dk1"/>
                </a:solidFill>
                <a:latin typeface="Old Standard TT"/>
                <a:ea typeface="Old Standard TT"/>
                <a:cs typeface="Old Standard TT"/>
                <a:sym typeface="Old Standard TT"/>
              </a:rPr>
              <a:t>Page Configuration</a:t>
            </a:r>
            <a:endParaRPr b="1">
              <a:solidFill>
                <a:schemeClr val="dk1"/>
              </a:solidFill>
              <a:latin typeface="Old Standard TT"/>
              <a:ea typeface="Old Standard TT"/>
              <a:cs typeface="Old Standard TT"/>
              <a:sym typeface="Old Standard TT"/>
            </a:endParaRPr>
          </a:p>
          <a:p>
            <a:pPr indent="0" lvl="0" marL="0" rtl="0" algn="l">
              <a:lnSpc>
                <a:spcPct val="100000"/>
              </a:lnSpc>
              <a:spcBef>
                <a:spcPts val="0"/>
              </a:spcBef>
              <a:spcAft>
                <a:spcPts val="0"/>
              </a:spcAft>
              <a:buNone/>
            </a:pPr>
            <a:r>
              <a:rPr lang="fr">
                <a:solidFill>
                  <a:schemeClr val="dk1"/>
                </a:solidFill>
                <a:latin typeface="Old Standard TT"/>
                <a:ea typeface="Old Standard TT"/>
                <a:cs typeface="Old Standard TT"/>
                <a:sym typeface="Old Standard TT"/>
              </a:rPr>
              <a:t>Custom icon, wide layout, sidebar styling</a:t>
            </a:r>
            <a:endParaRPr>
              <a:solidFill>
                <a:schemeClr val="dk1"/>
              </a:solidFill>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a:solidFill>
                <a:schemeClr val="dk1"/>
              </a:solidFill>
              <a:latin typeface="Old Standard TT"/>
              <a:ea typeface="Old Standard TT"/>
              <a:cs typeface="Old Standard TT"/>
              <a:sym typeface="Old Standard TT"/>
            </a:endParaRPr>
          </a:p>
          <a:p>
            <a:pPr indent="0" lvl="0" marL="0" rtl="0" algn="l">
              <a:lnSpc>
                <a:spcPct val="100000"/>
              </a:lnSpc>
              <a:spcBef>
                <a:spcPts val="0"/>
              </a:spcBef>
              <a:spcAft>
                <a:spcPts val="0"/>
              </a:spcAft>
              <a:buNone/>
            </a:pPr>
            <a:r>
              <a:rPr b="1" lang="fr">
                <a:solidFill>
                  <a:schemeClr val="dk1"/>
                </a:solidFill>
                <a:latin typeface="Old Standard TT"/>
                <a:ea typeface="Old Standard TT"/>
                <a:cs typeface="Old Standard TT"/>
                <a:sym typeface="Old Standard TT"/>
              </a:rPr>
              <a:t>Sidebar Content</a:t>
            </a:r>
            <a:endParaRPr b="1">
              <a:solidFill>
                <a:schemeClr val="dk1"/>
              </a:solidFill>
              <a:latin typeface="Old Standard TT"/>
              <a:ea typeface="Old Standard TT"/>
              <a:cs typeface="Old Standard TT"/>
              <a:sym typeface="Old Standard TT"/>
            </a:endParaRPr>
          </a:p>
          <a:p>
            <a:pPr indent="0" lvl="0" marL="0" rtl="0" algn="l">
              <a:lnSpc>
                <a:spcPct val="100000"/>
              </a:lnSpc>
              <a:spcBef>
                <a:spcPts val="0"/>
              </a:spcBef>
              <a:spcAft>
                <a:spcPts val="0"/>
              </a:spcAft>
              <a:buNone/>
            </a:pPr>
            <a:r>
              <a:rPr lang="fr">
                <a:solidFill>
                  <a:schemeClr val="dk1"/>
                </a:solidFill>
                <a:latin typeface="Old Standard TT"/>
                <a:ea typeface="Old Standard TT"/>
                <a:cs typeface="Old Standard TT"/>
                <a:sym typeface="Old Standard TT"/>
              </a:rPr>
              <a:t>Skin type info, dataset source, project credits</a:t>
            </a:r>
            <a:endParaRPr>
              <a:solidFill>
                <a:schemeClr val="dk1"/>
              </a:solidFill>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a:solidFill>
                <a:schemeClr val="dk1"/>
              </a:solidFill>
              <a:latin typeface="Old Standard TT"/>
              <a:ea typeface="Old Standard TT"/>
              <a:cs typeface="Old Standard TT"/>
              <a:sym typeface="Old Standard TT"/>
            </a:endParaRPr>
          </a:p>
          <a:p>
            <a:pPr indent="0" lvl="0" marL="0" rtl="0" algn="l">
              <a:lnSpc>
                <a:spcPct val="100000"/>
              </a:lnSpc>
              <a:spcBef>
                <a:spcPts val="0"/>
              </a:spcBef>
              <a:spcAft>
                <a:spcPts val="0"/>
              </a:spcAft>
              <a:buNone/>
            </a:pPr>
            <a:r>
              <a:rPr b="1" lang="fr">
                <a:solidFill>
                  <a:schemeClr val="dk1"/>
                </a:solidFill>
                <a:latin typeface="Old Standard TT"/>
                <a:ea typeface="Old Standard TT"/>
                <a:cs typeface="Old Standard TT"/>
                <a:sym typeface="Old Standard TT"/>
              </a:rPr>
              <a:t>Main Interface</a:t>
            </a:r>
            <a:endParaRPr b="1">
              <a:solidFill>
                <a:schemeClr val="dk1"/>
              </a:solidFill>
              <a:latin typeface="Old Standard TT"/>
              <a:ea typeface="Old Standard TT"/>
              <a:cs typeface="Old Standard TT"/>
              <a:sym typeface="Old Standard TT"/>
            </a:endParaRPr>
          </a:p>
          <a:p>
            <a:pPr indent="-184150" lvl="0" marL="269999" rtl="0" algn="l">
              <a:lnSpc>
                <a:spcPct val="100000"/>
              </a:lnSpc>
              <a:spcBef>
                <a:spcPts val="0"/>
              </a:spcBef>
              <a:spcAft>
                <a:spcPts val="0"/>
              </a:spcAft>
              <a:buClr>
                <a:schemeClr val="dk1"/>
              </a:buClr>
              <a:buSzPts val="1400"/>
              <a:buFont typeface="Old Standard TT"/>
              <a:buChar char="●"/>
            </a:pPr>
            <a:r>
              <a:rPr b="1" lang="fr">
                <a:solidFill>
                  <a:schemeClr val="dk1"/>
                </a:solidFill>
                <a:latin typeface="Old Standard TT"/>
                <a:ea typeface="Old Standard TT"/>
                <a:cs typeface="Old Standard TT"/>
                <a:sym typeface="Old Standard TT"/>
              </a:rPr>
              <a:t>Image Upload</a:t>
            </a:r>
            <a:r>
              <a:rPr lang="fr">
                <a:solidFill>
                  <a:schemeClr val="dk1"/>
                </a:solidFill>
                <a:latin typeface="Old Standard TT"/>
                <a:ea typeface="Old Standard TT"/>
                <a:cs typeface="Old Standard TT"/>
                <a:sym typeface="Old Standard TT"/>
              </a:rPr>
              <a:t>: Users upload a skin image</a:t>
            </a:r>
            <a:endParaRPr>
              <a:solidFill>
                <a:schemeClr val="dk1"/>
              </a:solidFill>
              <a:latin typeface="Old Standard TT"/>
              <a:ea typeface="Old Standard TT"/>
              <a:cs typeface="Old Standard TT"/>
              <a:sym typeface="Old Standard TT"/>
            </a:endParaRPr>
          </a:p>
          <a:p>
            <a:pPr indent="-184150" lvl="0" marL="269999" rtl="0" algn="l">
              <a:lnSpc>
                <a:spcPct val="100000"/>
              </a:lnSpc>
              <a:spcBef>
                <a:spcPts val="0"/>
              </a:spcBef>
              <a:spcAft>
                <a:spcPts val="0"/>
              </a:spcAft>
              <a:buClr>
                <a:schemeClr val="dk1"/>
              </a:buClr>
              <a:buSzPts val="1400"/>
              <a:buFont typeface="Old Standard TT"/>
              <a:buChar char="●"/>
            </a:pPr>
            <a:r>
              <a:rPr b="1" lang="fr">
                <a:solidFill>
                  <a:schemeClr val="dk1"/>
                </a:solidFill>
                <a:latin typeface="Old Standard TT"/>
                <a:ea typeface="Old Standard TT"/>
                <a:cs typeface="Old Standard TT"/>
                <a:sym typeface="Old Standard TT"/>
              </a:rPr>
              <a:t>Image Display</a:t>
            </a:r>
            <a:r>
              <a:rPr lang="fr">
                <a:solidFill>
                  <a:schemeClr val="dk1"/>
                </a:solidFill>
                <a:latin typeface="Old Standard TT"/>
                <a:ea typeface="Old Standard TT"/>
                <a:cs typeface="Old Standard TT"/>
                <a:sym typeface="Old Standard TT"/>
              </a:rPr>
              <a:t>: Shows uploaded image</a:t>
            </a:r>
            <a:endParaRPr>
              <a:solidFill>
                <a:schemeClr val="dk1"/>
              </a:solidFill>
              <a:latin typeface="Old Standard TT"/>
              <a:ea typeface="Old Standard TT"/>
              <a:cs typeface="Old Standard TT"/>
              <a:sym typeface="Old Standard TT"/>
            </a:endParaRPr>
          </a:p>
          <a:p>
            <a:pPr indent="-184150" lvl="0" marL="269999" rtl="0" algn="l">
              <a:lnSpc>
                <a:spcPct val="100000"/>
              </a:lnSpc>
              <a:spcBef>
                <a:spcPts val="0"/>
              </a:spcBef>
              <a:spcAft>
                <a:spcPts val="0"/>
              </a:spcAft>
              <a:buClr>
                <a:schemeClr val="dk1"/>
              </a:buClr>
              <a:buSzPts val="1400"/>
              <a:buFont typeface="Old Standard TT"/>
              <a:buChar char="●"/>
            </a:pPr>
            <a:r>
              <a:rPr b="1" lang="fr">
                <a:solidFill>
                  <a:schemeClr val="dk1"/>
                </a:solidFill>
                <a:latin typeface="Old Standard TT"/>
                <a:ea typeface="Old Standard TT"/>
                <a:cs typeface="Old Standard TT"/>
                <a:sym typeface="Old Standard TT"/>
              </a:rPr>
              <a:t>Predict Button</a:t>
            </a:r>
            <a:r>
              <a:rPr lang="fr">
                <a:solidFill>
                  <a:schemeClr val="dk1"/>
                </a:solidFill>
                <a:latin typeface="Old Standard TT"/>
                <a:ea typeface="Old Standard TT"/>
                <a:cs typeface="Old Standard TT"/>
                <a:sym typeface="Old Standard TT"/>
              </a:rPr>
              <a:t>: Generates skin type classification</a:t>
            </a:r>
            <a:endParaRPr>
              <a:solidFill>
                <a:schemeClr val="dk1"/>
              </a:solidFill>
              <a:latin typeface="Old Standard TT"/>
              <a:ea typeface="Old Standard TT"/>
              <a:cs typeface="Old Standard TT"/>
              <a:sym typeface="Old Standard TT"/>
            </a:endParaRPr>
          </a:p>
          <a:p>
            <a:pPr indent="-184150" lvl="0" marL="269999" rtl="0" algn="l">
              <a:lnSpc>
                <a:spcPct val="100000"/>
              </a:lnSpc>
              <a:spcBef>
                <a:spcPts val="0"/>
              </a:spcBef>
              <a:spcAft>
                <a:spcPts val="0"/>
              </a:spcAft>
              <a:buClr>
                <a:schemeClr val="dk1"/>
              </a:buClr>
              <a:buSzPts val="1400"/>
              <a:buFont typeface="Old Standard TT"/>
              <a:buChar char="●"/>
            </a:pPr>
            <a:r>
              <a:rPr b="1" lang="fr">
                <a:solidFill>
                  <a:schemeClr val="dk1"/>
                </a:solidFill>
                <a:latin typeface="Old Standard TT"/>
                <a:ea typeface="Old Standard TT"/>
                <a:cs typeface="Old Standard TT"/>
                <a:sym typeface="Old Standard TT"/>
              </a:rPr>
              <a:t>Result Display</a:t>
            </a:r>
            <a:r>
              <a:rPr lang="fr">
                <a:solidFill>
                  <a:schemeClr val="dk1"/>
                </a:solidFill>
                <a:latin typeface="Old Standard TT"/>
                <a:ea typeface="Old Standard TT"/>
                <a:cs typeface="Old Standard TT"/>
                <a:sym typeface="Old Standard TT"/>
              </a:rPr>
              <a:t>: Skin type + skincare tips</a:t>
            </a:r>
            <a:endParaRPr>
              <a:solidFill>
                <a:schemeClr val="dk1"/>
              </a:solidFill>
              <a:latin typeface="Old Standard TT"/>
              <a:ea typeface="Old Standard TT"/>
              <a:cs typeface="Old Standard TT"/>
              <a:sym typeface="Old Standard TT"/>
            </a:endParaRPr>
          </a:p>
          <a:p>
            <a:pPr indent="0" lvl="0" marL="0" rtl="0" algn="l">
              <a:lnSpc>
                <a:spcPct val="100000"/>
              </a:lnSpc>
              <a:spcBef>
                <a:spcPts val="0"/>
              </a:spcBef>
              <a:spcAft>
                <a:spcPts val="0"/>
              </a:spcAft>
              <a:buNone/>
            </a:pPr>
            <a:r>
              <a:t/>
            </a:r>
            <a:endParaRPr>
              <a:solidFill>
                <a:schemeClr val="dk1"/>
              </a:solidFill>
              <a:latin typeface="Old Standard TT"/>
              <a:ea typeface="Old Standard TT"/>
              <a:cs typeface="Old Standard TT"/>
              <a:sym typeface="Old Standard TT"/>
            </a:endParaRPr>
          </a:p>
          <a:p>
            <a:pPr indent="0" lvl="0" marL="0" rtl="0" algn="l">
              <a:lnSpc>
                <a:spcPct val="100000"/>
              </a:lnSpc>
              <a:spcBef>
                <a:spcPts val="0"/>
              </a:spcBef>
              <a:spcAft>
                <a:spcPts val="0"/>
              </a:spcAft>
              <a:buNone/>
            </a:pPr>
            <a:r>
              <a:rPr b="1" lang="fr">
                <a:solidFill>
                  <a:schemeClr val="dk1"/>
                </a:solidFill>
                <a:latin typeface="Old Standard TT"/>
                <a:ea typeface="Old Standard TT"/>
                <a:cs typeface="Old Standard TT"/>
                <a:sym typeface="Old Standard TT"/>
              </a:rPr>
              <a:t>UI Enhancements</a:t>
            </a:r>
            <a:endParaRPr b="1">
              <a:solidFill>
                <a:schemeClr val="dk1"/>
              </a:solidFill>
              <a:latin typeface="Old Standard TT"/>
              <a:ea typeface="Old Standard TT"/>
              <a:cs typeface="Old Standard TT"/>
              <a:sym typeface="Old Standard TT"/>
            </a:endParaRPr>
          </a:p>
          <a:p>
            <a:pPr indent="0" lvl="0" marL="0" rtl="0" algn="l">
              <a:lnSpc>
                <a:spcPct val="100000"/>
              </a:lnSpc>
              <a:spcBef>
                <a:spcPts val="0"/>
              </a:spcBef>
              <a:spcAft>
                <a:spcPts val="0"/>
              </a:spcAft>
              <a:buNone/>
            </a:pPr>
            <a:r>
              <a:rPr lang="fr">
                <a:solidFill>
                  <a:schemeClr val="dk1"/>
                </a:solidFill>
                <a:latin typeface="Old Standard TT"/>
                <a:ea typeface="Old Standard TT"/>
                <a:cs typeface="Old Standard TT"/>
                <a:sym typeface="Old Standard TT"/>
              </a:rPr>
              <a:t>Custom CSS for styling, color-coded results</a:t>
            </a:r>
            <a:endParaRPr>
              <a:solidFill>
                <a:schemeClr val="dk1"/>
              </a:solidFill>
              <a:latin typeface="Old Standard TT"/>
              <a:ea typeface="Old Standard TT"/>
              <a:cs typeface="Old Standard TT"/>
              <a:sym typeface="Old Standard TT"/>
            </a:endParaRPr>
          </a:p>
        </p:txBody>
      </p:sp>
      <p:pic>
        <p:nvPicPr>
          <p:cNvPr id="250" name="Google Shape;250;p27">
            <a:hlinkClick r:id="rId6"/>
          </p:cNvPr>
          <p:cNvPicPr preferRelativeResize="0"/>
          <p:nvPr/>
        </p:nvPicPr>
        <p:blipFill>
          <a:blip r:embed="rId7">
            <a:alphaModFix/>
          </a:blip>
          <a:stretch>
            <a:fillRect/>
          </a:stretch>
        </p:blipFill>
        <p:spPr>
          <a:xfrm>
            <a:off x="3984750" y="2073550"/>
            <a:ext cx="5106875" cy="2206749"/>
          </a:xfrm>
          <a:prstGeom prst="rect">
            <a:avLst/>
          </a:prstGeom>
          <a:noFill/>
          <a:ln>
            <a:noFill/>
          </a:ln>
        </p:spPr>
      </p:pic>
      <p:sp>
        <p:nvSpPr>
          <p:cNvPr id="251" name="Google Shape;251;p27"/>
          <p:cNvSpPr txBox="1"/>
          <p:nvPr/>
        </p:nvSpPr>
        <p:spPr>
          <a:xfrm>
            <a:off x="6027138" y="4388500"/>
            <a:ext cx="1022100" cy="4002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fr" u="sng">
                <a:solidFill>
                  <a:schemeClr val="hlink"/>
                </a:solidFill>
                <a:latin typeface="Old Standard TT"/>
                <a:ea typeface="Old Standard TT"/>
                <a:cs typeface="Old Standard TT"/>
                <a:sym typeface="Old Standard TT"/>
                <a:hlinkClick r:id="rId8"/>
              </a:rPr>
              <a:t>Demo</a:t>
            </a:r>
            <a:endParaRPr>
              <a:solidFill>
                <a:schemeClr val="dk1"/>
              </a:solidFill>
              <a:latin typeface="Old Standard TT"/>
              <a:ea typeface="Old Standard TT"/>
              <a:cs typeface="Old Standard TT"/>
              <a:sym typeface="Old Standard T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fr"/>
              <a:t>Next Steps &amp; Future Improvements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grpSp>
        <p:nvGrpSpPr>
          <p:cNvPr id="261" name="Google Shape;261;p29"/>
          <p:cNvGrpSpPr/>
          <p:nvPr/>
        </p:nvGrpSpPr>
        <p:grpSpPr>
          <a:xfrm>
            <a:off x="158748" y="47216"/>
            <a:ext cx="8985267" cy="1638095"/>
            <a:chOff x="1593000" y="2322567"/>
            <a:chExt cx="6399307" cy="643500"/>
          </a:xfrm>
        </p:grpSpPr>
        <p:sp>
          <p:nvSpPr>
            <p:cNvPr id="262" name="Google Shape;262;p29"/>
            <p:cNvSpPr/>
            <p:nvPr/>
          </p:nvSpPr>
          <p:spPr>
            <a:xfrm>
              <a:off x="3728375" y="2322568"/>
              <a:ext cx="3822600" cy="64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9"/>
            <p:cNvSpPr/>
            <p:nvPr/>
          </p:nvSpPr>
          <p:spPr>
            <a:xfrm flipH="1">
              <a:off x="2282848" y="2322567"/>
              <a:ext cx="1262700" cy="642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9"/>
            <p:cNvSpPr/>
            <p:nvPr/>
          </p:nvSpPr>
          <p:spPr>
            <a:xfrm rot="-5400000">
              <a:off x="2990976" y="2228196"/>
              <a:ext cx="643360" cy="832108"/>
            </a:xfrm>
            <a:prstGeom prst="flowChartOffpageConnector">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9"/>
            <p:cNvSpPr/>
            <p:nvPr/>
          </p:nvSpPr>
          <p:spPr>
            <a:xfrm>
              <a:off x="2342628" y="2322571"/>
              <a:ext cx="12030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fr" sz="2400">
                  <a:solidFill>
                    <a:srgbClr val="FFFFFF"/>
                  </a:solidFill>
                  <a:latin typeface="Old Standard TT"/>
                  <a:ea typeface="Old Standard TT"/>
                  <a:cs typeface="Old Standard TT"/>
                  <a:sym typeface="Old Standard TT"/>
                </a:rPr>
                <a:t>Improve the model</a:t>
              </a:r>
              <a:endParaRPr sz="2400">
                <a:solidFill>
                  <a:srgbClr val="FFFFFF"/>
                </a:solidFill>
                <a:latin typeface="Old Standard TT"/>
                <a:ea typeface="Old Standard TT"/>
                <a:cs typeface="Old Standard TT"/>
                <a:sym typeface="Old Standard TT"/>
              </a:endParaRPr>
            </a:p>
          </p:txBody>
        </p:sp>
        <p:sp>
          <p:nvSpPr>
            <p:cNvPr id="266" name="Google Shape;266;p29"/>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9"/>
            <p:cNvSpPr/>
            <p:nvPr/>
          </p:nvSpPr>
          <p:spPr>
            <a:xfrm>
              <a:off x="1593000" y="2322575"/>
              <a:ext cx="690000" cy="64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2600">
                  <a:solidFill>
                    <a:srgbClr val="FFFFFF"/>
                  </a:solidFill>
                  <a:latin typeface="Old Standard TT"/>
                  <a:ea typeface="Old Standard TT"/>
                  <a:cs typeface="Old Standard TT"/>
                  <a:sym typeface="Old Standard TT"/>
                </a:rPr>
                <a:t>01</a:t>
              </a:r>
              <a:endParaRPr sz="2600">
                <a:solidFill>
                  <a:srgbClr val="FFFFFF"/>
                </a:solidFill>
                <a:latin typeface="Old Standard TT"/>
                <a:ea typeface="Old Standard TT"/>
                <a:cs typeface="Old Standard TT"/>
                <a:sym typeface="Old Standard TT"/>
              </a:endParaRPr>
            </a:p>
          </p:txBody>
        </p:sp>
        <p:sp>
          <p:nvSpPr>
            <p:cNvPr id="268" name="Google Shape;268;p29"/>
            <p:cNvSpPr/>
            <p:nvPr/>
          </p:nvSpPr>
          <p:spPr>
            <a:xfrm>
              <a:off x="3728707" y="2323168"/>
              <a:ext cx="4263600" cy="6423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178899" lvl="0" marL="179999" rtl="0" algn="l">
                <a:lnSpc>
                  <a:spcPct val="100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Increase Dataset Size</a:t>
              </a:r>
              <a:endParaRPr>
                <a:solidFill>
                  <a:schemeClr val="dk1"/>
                </a:solidFill>
                <a:latin typeface="Old Standard TT"/>
                <a:ea typeface="Old Standard TT"/>
                <a:cs typeface="Old Standard TT"/>
                <a:sym typeface="Old Standard TT"/>
              </a:endParaRPr>
            </a:p>
            <a:p>
              <a:pPr indent="-178899" lvl="0" marL="179999" rtl="0" algn="l">
                <a:lnSpc>
                  <a:spcPct val="100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Test Other Pretrained Models = ResNet, ViT, DenseNet, etc.</a:t>
              </a:r>
              <a:endParaRPr>
                <a:solidFill>
                  <a:schemeClr val="dk1"/>
                </a:solidFill>
                <a:latin typeface="Old Standard TT"/>
                <a:ea typeface="Old Standard TT"/>
                <a:cs typeface="Old Standard TT"/>
                <a:sym typeface="Old Standard TT"/>
              </a:endParaRPr>
            </a:p>
            <a:p>
              <a:pPr indent="-178899" lvl="0" marL="179999" rtl="0" algn="l">
                <a:lnSpc>
                  <a:spcPct val="100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Fine-Tune Hyperparameters</a:t>
              </a:r>
              <a:endParaRPr>
                <a:solidFill>
                  <a:schemeClr val="dk1"/>
                </a:solidFill>
                <a:latin typeface="Old Standard TT"/>
                <a:ea typeface="Old Standard TT"/>
                <a:cs typeface="Old Standard TT"/>
                <a:sym typeface="Old Standard TT"/>
              </a:endParaRPr>
            </a:p>
            <a:p>
              <a:pPr indent="-178899" lvl="0" marL="179999" rtl="0" algn="l">
                <a:lnSpc>
                  <a:spcPct val="100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Enhance Data Augmentation</a:t>
              </a:r>
              <a:endParaRPr>
                <a:solidFill>
                  <a:schemeClr val="dk1"/>
                </a:solidFill>
                <a:latin typeface="Old Standard TT"/>
                <a:ea typeface="Old Standard TT"/>
                <a:cs typeface="Old Standard TT"/>
                <a:sym typeface="Old Standard TT"/>
              </a:endParaRPr>
            </a:p>
            <a:p>
              <a:pPr indent="-178899" lvl="0" marL="179999" rtl="0" algn="l">
                <a:lnSpc>
                  <a:spcPct val="100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Implement Self-Supervised Learning</a:t>
              </a:r>
              <a:endParaRPr>
                <a:solidFill>
                  <a:schemeClr val="dk1"/>
                </a:solidFill>
                <a:latin typeface="Old Standard TT"/>
                <a:ea typeface="Old Standard TT"/>
                <a:cs typeface="Old Standard TT"/>
                <a:sym typeface="Old Standard TT"/>
              </a:endParaRPr>
            </a:p>
          </p:txBody>
        </p:sp>
      </p:grpSp>
      <p:grpSp>
        <p:nvGrpSpPr>
          <p:cNvPr id="269" name="Google Shape;269;p29"/>
          <p:cNvGrpSpPr/>
          <p:nvPr/>
        </p:nvGrpSpPr>
        <p:grpSpPr>
          <a:xfrm>
            <a:off x="158748" y="1737541"/>
            <a:ext cx="8985267" cy="1638095"/>
            <a:chOff x="1593000" y="2322567"/>
            <a:chExt cx="6399307" cy="643500"/>
          </a:xfrm>
        </p:grpSpPr>
        <p:sp>
          <p:nvSpPr>
            <p:cNvPr id="270" name="Google Shape;270;p29"/>
            <p:cNvSpPr/>
            <p:nvPr/>
          </p:nvSpPr>
          <p:spPr>
            <a:xfrm>
              <a:off x="3728375" y="2322568"/>
              <a:ext cx="3822600" cy="64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9"/>
            <p:cNvSpPr/>
            <p:nvPr/>
          </p:nvSpPr>
          <p:spPr>
            <a:xfrm flipH="1">
              <a:off x="2282848" y="2322567"/>
              <a:ext cx="1262700" cy="642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9"/>
            <p:cNvSpPr/>
            <p:nvPr/>
          </p:nvSpPr>
          <p:spPr>
            <a:xfrm rot="-5400000">
              <a:off x="2990976" y="2228196"/>
              <a:ext cx="643360" cy="832108"/>
            </a:xfrm>
            <a:prstGeom prst="flowChartOffpageConnector">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9"/>
            <p:cNvSpPr/>
            <p:nvPr/>
          </p:nvSpPr>
          <p:spPr>
            <a:xfrm>
              <a:off x="2342628" y="2322571"/>
              <a:ext cx="12030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fr" sz="2400">
                  <a:solidFill>
                    <a:srgbClr val="FFFFFF"/>
                  </a:solidFill>
                  <a:latin typeface="Old Standard TT"/>
                  <a:ea typeface="Old Standard TT"/>
                  <a:cs typeface="Old Standard TT"/>
                  <a:sym typeface="Old Standard TT"/>
                </a:rPr>
                <a:t>Expand application features</a:t>
              </a:r>
              <a:endParaRPr sz="2400">
                <a:solidFill>
                  <a:srgbClr val="FFFFFF"/>
                </a:solidFill>
                <a:latin typeface="Old Standard TT"/>
                <a:ea typeface="Old Standard TT"/>
                <a:cs typeface="Old Standard TT"/>
                <a:sym typeface="Old Standard TT"/>
              </a:endParaRPr>
            </a:p>
          </p:txBody>
        </p:sp>
        <p:sp>
          <p:nvSpPr>
            <p:cNvPr id="274" name="Google Shape;274;p29"/>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9"/>
            <p:cNvSpPr/>
            <p:nvPr/>
          </p:nvSpPr>
          <p:spPr>
            <a:xfrm>
              <a:off x="1593000" y="2322575"/>
              <a:ext cx="690000" cy="64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2600">
                  <a:solidFill>
                    <a:srgbClr val="FFFFFF"/>
                  </a:solidFill>
                  <a:latin typeface="Old Standard TT"/>
                  <a:ea typeface="Old Standard TT"/>
                  <a:cs typeface="Old Standard TT"/>
                  <a:sym typeface="Old Standard TT"/>
                </a:rPr>
                <a:t>02</a:t>
              </a:r>
              <a:endParaRPr sz="2600">
                <a:solidFill>
                  <a:srgbClr val="FFFFFF"/>
                </a:solidFill>
                <a:latin typeface="Old Standard TT"/>
                <a:ea typeface="Old Standard TT"/>
                <a:cs typeface="Old Standard TT"/>
                <a:sym typeface="Old Standard TT"/>
              </a:endParaRPr>
            </a:p>
          </p:txBody>
        </p:sp>
        <p:sp>
          <p:nvSpPr>
            <p:cNvPr id="276" name="Google Shape;276;p29"/>
            <p:cNvSpPr/>
            <p:nvPr/>
          </p:nvSpPr>
          <p:spPr>
            <a:xfrm>
              <a:off x="3728707" y="2323168"/>
              <a:ext cx="4263600" cy="6423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178899" lvl="0" marL="179999" rtl="0" algn="l">
                <a:lnSpc>
                  <a:spcPct val="115000"/>
                </a:lnSpc>
                <a:spcBef>
                  <a:spcPts val="120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Mobile App Development </a:t>
              </a:r>
              <a:endParaRPr>
                <a:solidFill>
                  <a:schemeClr val="dk1"/>
                </a:solidFill>
                <a:latin typeface="Old Standard TT"/>
                <a:ea typeface="Old Standard TT"/>
                <a:cs typeface="Old Standard TT"/>
                <a:sym typeface="Old Standard TT"/>
              </a:endParaRPr>
            </a:p>
            <a:p>
              <a:pPr indent="-178899" lvl="0" marL="179999" rtl="0" algn="l">
                <a:lnSpc>
                  <a:spcPct val="115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Full Web App Integration</a:t>
              </a:r>
              <a:endParaRPr>
                <a:solidFill>
                  <a:schemeClr val="dk1"/>
                </a:solidFill>
                <a:latin typeface="Old Standard TT"/>
                <a:ea typeface="Old Standard TT"/>
                <a:cs typeface="Old Standard TT"/>
                <a:sym typeface="Old Standard TT"/>
              </a:endParaRPr>
            </a:p>
            <a:p>
              <a:pPr indent="-178899" lvl="0" marL="179999" rtl="0" algn="l">
                <a:lnSpc>
                  <a:spcPct val="115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Personalized Skincare Recommendations</a:t>
              </a:r>
              <a:endParaRPr>
                <a:solidFill>
                  <a:schemeClr val="dk1"/>
                </a:solidFill>
                <a:latin typeface="Old Standard TT"/>
                <a:ea typeface="Old Standard TT"/>
                <a:cs typeface="Old Standard TT"/>
                <a:sym typeface="Old Standard TT"/>
              </a:endParaRPr>
            </a:p>
            <a:p>
              <a:pPr indent="-178899" lvl="0" marL="179999" rtl="0" algn="l">
                <a:lnSpc>
                  <a:spcPct val="115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Doctor &amp; Dermatologist Listing</a:t>
              </a:r>
              <a:endParaRPr>
                <a:solidFill>
                  <a:schemeClr val="dk1"/>
                </a:solidFill>
                <a:latin typeface="Old Standard TT"/>
                <a:ea typeface="Old Standard TT"/>
                <a:cs typeface="Old Standard TT"/>
                <a:sym typeface="Old Standard TT"/>
              </a:endParaRPr>
            </a:p>
            <a:p>
              <a:pPr indent="-178899" lvl="0" marL="179999" rtl="0" algn="l">
                <a:lnSpc>
                  <a:spcPct val="115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Skin Evolution Tracking</a:t>
              </a:r>
              <a:endParaRPr>
                <a:solidFill>
                  <a:schemeClr val="dk1"/>
                </a:solidFill>
                <a:latin typeface="Old Standard TT"/>
                <a:ea typeface="Old Standard TT"/>
                <a:cs typeface="Old Standard TT"/>
                <a:sym typeface="Old Standard TT"/>
              </a:endParaRPr>
            </a:p>
            <a:p>
              <a:pPr indent="-178899" lvl="0" marL="179999" rtl="0" algn="l">
                <a:lnSpc>
                  <a:spcPct val="115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Treatment &amp; Product Tracking</a:t>
              </a:r>
              <a:endParaRPr>
                <a:solidFill>
                  <a:schemeClr val="dk1"/>
                </a:solidFill>
                <a:latin typeface="Old Standard TT"/>
                <a:ea typeface="Old Standard TT"/>
                <a:cs typeface="Old Standard TT"/>
                <a:sym typeface="Old Standard TT"/>
              </a:endParaRPr>
            </a:p>
          </p:txBody>
        </p:sp>
      </p:grpSp>
      <p:grpSp>
        <p:nvGrpSpPr>
          <p:cNvPr id="277" name="Google Shape;277;p29"/>
          <p:cNvGrpSpPr/>
          <p:nvPr/>
        </p:nvGrpSpPr>
        <p:grpSpPr>
          <a:xfrm>
            <a:off x="158748" y="3427866"/>
            <a:ext cx="8985267" cy="1638095"/>
            <a:chOff x="1593000" y="2322567"/>
            <a:chExt cx="6399307" cy="643500"/>
          </a:xfrm>
        </p:grpSpPr>
        <p:sp>
          <p:nvSpPr>
            <p:cNvPr id="278" name="Google Shape;278;p29"/>
            <p:cNvSpPr/>
            <p:nvPr/>
          </p:nvSpPr>
          <p:spPr>
            <a:xfrm>
              <a:off x="3728375" y="2322568"/>
              <a:ext cx="3822600" cy="64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p:nvPr/>
          </p:nvSpPr>
          <p:spPr>
            <a:xfrm flipH="1">
              <a:off x="2282848" y="2322567"/>
              <a:ext cx="1262700" cy="642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9"/>
            <p:cNvSpPr/>
            <p:nvPr/>
          </p:nvSpPr>
          <p:spPr>
            <a:xfrm rot="-5400000">
              <a:off x="2990976" y="2228196"/>
              <a:ext cx="643360" cy="832108"/>
            </a:xfrm>
            <a:prstGeom prst="flowChartOffpageConnector">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9"/>
            <p:cNvSpPr/>
            <p:nvPr/>
          </p:nvSpPr>
          <p:spPr>
            <a:xfrm>
              <a:off x="2342628" y="2322571"/>
              <a:ext cx="1203000" cy="642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fr" sz="2300">
                  <a:solidFill>
                    <a:srgbClr val="FFFFFF"/>
                  </a:solidFill>
                  <a:latin typeface="Old Standard TT"/>
                  <a:ea typeface="Old Standard TT"/>
                  <a:cs typeface="Old Standard TT"/>
                  <a:sym typeface="Old Standard TT"/>
                </a:rPr>
                <a:t>Enhance the API</a:t>
              </a:r>
              <a:endParaRPr sz="2300">
                <a:solidFill>
                  <a:srgbClr val="FFFFFF"/>
                </a:solidFill>
                <a:latin typeface="Old Standard TT"/>
                <a:ea typeface="Old Standard TT"/>
                <a:cs typeface="Old Standard TT"/>
                <a:sym typeface="Old Standard TT"/>
              </a:endParaRPr>
            </a:p>
          </p:txBody>
        </p:sp>
        <p:sp>
          <p:nvSpPr>
            <p:cNvPr id="282" name="Google Shape;282;p29"/>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9"/>
            <p:cNvSpPr/>
            <p:nvPr/>
          </p:nvSpPr>
          <p:spPr>
            <a:xfrm>
              <a:off x="1593000" y="2322575"/>
              <a:ext cx="690000" cy="64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2600">
                  <a:solidFill>
                    <a:srgbClr val="FFFFFF"/>
                  </a:solidFill>
                  <a:latin typeface="Old Standard TT"/>
                  <a:ea typeface="Old Standard TT"/>
                  <a:cs typeface="Old Standard TT"/>
                  <a:sym typeface="Old Standard TT"/>
                </a:rPr>
                <a:t>03</a:t>
              </a:r>
              <a:endParaRPr sz="2600">
                <a:solidFill>
                  <a:srgbClr val="FFFFFF"/>
                </a:solidFill>
                <a:latin typeface="Old Standard TT"/>
                <a:ea typeface="Old Standard TT"/>
                <a:cs typeface="Old Standard TT"/>
                <a:sym typeface="Old Standard TT"/>
              </a:endParaRPr>
            </a:p>
          </p:txBody>
        </p:sp>
        <p:sp>
          <p:nvSpPr>
            <p:cNvPr id="284" name="Google Shape;284;p29"/>
            <p:cNvSpPr/>
            <p:nvPr/>
          </p:nvSpPr>
          <p:spPr>
            <a:xfrm>
              <a:off x="3728707" y="2323168"/>
              <a:ext cx="4263600" cy="6423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178899" lvl="0" marL="179999" rtl="0" algn="l">
                <a:lnSpc>
                  <a:spcPct val="115000"/>
                </a:lnSpc>
                <a:spcBef>
                  <a:spcPts val="120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Real-Time Inference</a:t>
              </a:r>
              <a:endParaRPr>
                <a:solidFill>
                  <a:schemeClr val="dk1"/>
                </a:solidFill>
                <a:latin typeface="Old Standard TT"/>
                <a:ea typeface="Old Standard TT"/>
                <a:cs typeface="Old Standard TT"/>
                <a:sym typeface="Old Standard TT"/>
              </a:endParaRPr>
            </a:p>
            <a:p>
              <a:pPr indent="-178899" lvl="0" marL="179999" rtl="0" algn="l">
                <a:lnSpc>
                  <a:spcPct val="115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Multimodal Input</a:t>
              </a:r>
              <a:endParaRPr>
                <a:solidFill>
                  <a:schemeClr val="dk1"/>
                </a:solidFill>
                <a:latin typeface="Old Standard TT"/>
                <a:ea typeface="Old Standard TT"/>
                <a:cs typeface="Old Standard TT"/>
                <a:sym typeface="Old Standard TT"/>
              </a:endParaRPr>
            </a:p>
            <a:p>
              <a:pPr indent="-178899" lvl="0" marL="179999" rtl="0" algn="l">
                <a:lnSpc>
                  <a:spcPct val="115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Confidence Score &amp; Explanations</a:t>
              </a:r>
              <a:endParaRPr>
                <a:solidFill>
                  <a:schemeClr val="dk1"/>
                </a:solidFill>
                <a:latin typeface="Old Standard TT"/>
                <a:ea typeface="Old Standard TT"/>
                <a:cs typeface="Old Standard TT"/>
                <a:sym typeface="Old Standard TT"/>
              </a:endParaRPr>
            </a:p>
            <a:p>
              <a:pPr indent="-178899" lvl="0" marL="179999" rtl="0" algn="l">
                <a:lnSpc>
                  <a:spcPct val="115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Multi-Skin Condition Classification</a:t>
              </a:r>
              <a:endParaRPr>
                <a:solidFill>
                  <a:schemeClr val="dk1"/>
                </a:solidFill>
                <a:latin typeface="Old Standard TT"/>
                <a:ea typeface="Old Standard TT"/>
                <a:cs typeface="Old Standard TT"/>
                <a:sym typeface="Old Standard TT"/>
              </a:endParaRPr>
            </a:p>
            <a:p>
              <a:pPr indent="-178899" lvl="0" marL="179999" rtl="0" algn="l">
                <a:lnSpc>
                  <a:spcPct val="115000"/>
                </a:lnSpc>
                <a:spcBef>
                  <a:spcPts val="0"/>
                </a:spcBef>
                <a:spcAft>
                  <a:spcPts val="0"/>
                </a:spcAft>
                <a:buClr>
                  <a:schemeClr val="dk1"/>
                </a:buClr>
                <a:buSzPts val="1400"/>
                <a:buFont typeface="Old Standard TT"/>
                <a:buChar char="❖"/>
              </a:pPr>
              <a:r>
                <a:rPr lang="fr">
                  <a:solidFill>
                    <a:schemeClr val="dk1"/>
                  </a:solidFill>
                  <a:latin typeface="Old Standard TT"/>
                  <a:ea typeface="Old Standard TT"/>
                  <a:cs typeface="Old Standard TT"/>
                  <a:sym typeface="Old Standard TT"/>
                </a:rPr>
                <a:t>User Feedback Loop</a:t>
              </a:r>
              <a:endParaRPr sz="1200">
                <a:solidFill>
                  <a:schemeClr val="dk1"/>
                </a:solidFill>
                <a:latin typeface="Old Standard TT"/>
                <a:ea typeface="Old Standard TT"/>
                <a:cs typeface="Old Standard TT"/>
                <a:sym typeface="Old Standard TT"/>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0"/>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Conclusion</a:t>
            </a:r>
            <a:endParaRPr/>
          </a:p>
        </p:txBody>
      </p:sp>
      <p:sp>
        <p:nvSpPr>
          <p:cNvPr id="290" name="Google Shape;290;p30"/>
          <p:cNvSpPr txBox="1"/>
          <p:nvPr>
            <p:ph idx="1" type="body"/>
          </p:nvPr>
        </p:nvSpPr>
        <p:spPr>
          <a:xfrm>
            <a:off x="158800" y="1680025"/>
            <a:ext cx="8817900" cy="28887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sz="2000"/>
          </a:p>
          <a:p>
            <a:pPr indent="0" lvl="0" marL="0" marR="0" rtl="0" algn="l">
              <a:lnSpc>
                <a:spcPct val="100000"/>
              </a:lnSpc>
              <a:spcBef>
                <a:spcPts val="0"/>
              </a:spcBef>
              <a:spcAft>
                <a:spcPts val="0"/>
              </a:spcAft>
              <a:buNone/>
            </a:pPr>
            <a:r>
              <a:rPr b="1" lang="fr" sz="2000"/>
              <a:t>Key Achievements</a:t>
            </a:r>
            <a:endParaRPr b="1" sz="2000"/>
          </a:p>
          <a:p>
            <a:pPr indent="0" lvl="0" marL="0" marR="0" rtl="0" algn="l">
              <a:lnSpc>
                <a:spcPct val="100000"/>
              </a:lnSpc>
              <a:spcBef>
                <a:spcPts val="0"/>
              </a:spcBef>
              <a:spcAft>
                <a:spcPts val="0"/>
              </a:spcAft>
              <a:buNone/>
            </a:pPr>
            <a:r>
              <a:rPr lang="fr" sz="2000"/>
              <a:t>🙌 Developed a custom-trained model with CNN &amp; pretrained architectures</a:t>
            </a:r>
            <a:endParaRPr sz="2000"/>
          </a:p>
          <a:p>
            <a:pPr indent="0" lvl="0" marL="0" marR="0" rtl="0" algn="l">
              <a:lnSpc>
                <a:spcPct val="100000"/>
              </a:lnSpc>
              <a:spcBef>
                <a:spcPts val="0"/>
              </a:spcBef>
              <a:spcAft>
                <a:spcPts val="0"/>
              </a:spcAft>
              <a:buNone/>
            </a:pPr>
            <a:r>
              <a:rPr lang="fr" sz="2000"/>
              <a:t>🙌</a:t>
            </a:r>
            <a:r>
              <a:rPr lang="fr" sz="2000"/>
              <a:t> Built a deployed and accessible AI solution using FastAPI &amp; Hugging Face</a:t>
            </a:r>
            <a:endParaRPr sz="2000"/>
          </a:p>
          <a:p>
            <a:pPr indent="0" lvl="0" marL="0" marR="0" rtl="0" algn="l">
              <a:lnSpc>
                <a:spcPct val="100000"/>
              </a:lnSpc>
              <a:spcBef>
                <a:spcPts val="0"/>
              </a:spcBef>
              <a:spcAft>
                <a:spcPts val="0"/>
              </a:spcAft>
              <a:buNone/>
            </a:pPr>
            <a:r>
              <a:rPr lang="fr" sz="2000"/>
              <a:t>🙌</a:t>
            </a:r>
            <a:r>
              <a:rPr lang="fr" sz="2000"/>
              <a:t> Designed an engaging &amp; interactive application with Streamlit</a:t>
            </a:r>
            <a:endParaRPr b="1" sz="2000"/>
          </a:p>
          <a:p>
            <a:pPr indent="0" lvl="0" marL="0" rtl="0" algn="l">
              <a:lnSpc>
                <a:spcPct val="100000"/>
              </a:lnSpc>
              <a:spcBef>
                <a:spcPts val="0"/>
              </a:spcBef>
              <a:spcAft>
                <a:spcPts val="0"/>
              </a:spcAft>
              <a:buNone/>
            </a:pPr>
            <a:r>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